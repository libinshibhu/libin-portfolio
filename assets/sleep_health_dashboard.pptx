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0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2266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84400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269522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7016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3387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4566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5761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7036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27223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700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2/2/2026</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57090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2/2/2026</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kaggle.com/datasets/uom190346a/sleep-health-and-lifestyle-datas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C5C6-9D22-4A39-9821-144AA310906F}"/>
              </a:ext>
            </a:extLst>
          </p:cNvPr>
          <p:cNvSpPr>
            <a:spLocks noGrp="1"/>
          </p:cNvSpPr>
          <p:nvPr>
            <p:ph type="ctrTitle"/>
          </p:nvPr>
        </p:nvSpPr>
        <p:spPr>
          <a:xfrm>
            <a:off x="804139" y="1702676"/>
            <a:ext cx="10668000" cy="3168869"/>
          </a:xfrm>
          <a:ln>
            <a:noFill/>
          </a:ln>
          <a:effectLst>
            <a:outerShdw blurRad="107950" dist="12700" dir="5400000" algn="ctr">
              <a:srgbClr val="000000"/>
            </a:outerShdw>
          </a:effectLst>
        </p:spPr>
        <p:txBody>
          <a:bodyPr>
            <a:normAutofit fontScale="90000"/>
          </a:bodyPr>
          <a:lstStyle/>
          <a:p>
            <a:r>
              <a:rPr lang="en-US" b="1" dirty="0">
                <a:effectLst>
                  <a:outerShdw blurRad="38100" dist="38100" dir="2700000" algn="tl">
                    <a:srgbClr val="000000">
                      <a:alpha val="43137"/>
                    </a:srgbClr>
                  </a:outerShdw>
                </a:effectLst>
              </a:rPr>
              <a:t>Impact of lifestyle factors on sleep quality and health.</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-Power BI</a:t>
            </a:r>
            <a:br>
              <a:rPr lang="en-US" dirty="0"/>
            </a:br>
            <a:endParaRPr lang="en-IN" dirty="0"/>
          </a:p>
        </p:txBody>
      </p:sp>
      <p:sp>
        <p:nvSpPr>
          <p:cNvPr id="3" name="Subtitle 2">
            <a:extLst>
              <a:ext uri="{FF2B5EF4-FFF2-40B4-BE49-F238E27FC236}">
                <a16:creationId xmlns:a16="http://schemas.microsoft.com/office/drawing/2014/main" id="{A43C67CB-DA80-7DCB-0559-EB33F5CCB055}"/>
              </a:ext>
            </a:extLst>
          </p:cNvPr>
          <p:cNvSpPr>
            <a:spLocks noGrp="1"/>
          </p:cNvSpPr>
          <p:nvPr>
            <p:ph type="subTitle" idx="1"/>
          </p:nvPr>
        </p:nvSpPr>
        <p:spPr>
          <a:xfrm>
            <a:off x="8870731" y="4559851"/>
            <a:ext cx="2517130" cy="1232986"/>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r>
              <a:rPr lang="en-IN" sz="2800" b="1" dirty="0">
                <a:effectLst>
                  <a:outerShdw blurRad="38100" dist="38100" dir="2700000" algn="tl">
                    <a:srgbClr val="000000">
                      <a:alpha val="43137"/>
                    </a:srgbClr>
                  </a:outerShdw>
                </a:effectLst>
                <a:latin typeface="+mj-lt"/>
              </a:rPr>
              <a:t>Libin Shibhu</a:t>
            </a:r>
          </a:p>
          <a:p>
            <a:r>
              <a:rPr lang="en-IN" sz="2800" b="1" dirty="0">
                <a:effectLst>
                  <a:outerShdw blurRad="38100" dist="38100" dir="2700000" algn="tl">
                    <a:srgbClr val="000000">
                      <a:alpha val="43137"/>
                    </a:srgbClr>
                  </a:outerShdw>
                </a:effectLst>
                <a:latin typeface="+mj-lt"/>
              </a:rPr>
              <a:t>DA</a:t>
            </a:r>
          </a:p>
        </p:txBody>
      </p:sp>
    </p:spTree>
    <p:extLst>
      <p:ext uri="{BB962C8B-B14F-4D97-AF65-F5344CB8AC3E}">
        <p14:creationId xmlns:p14="http://schemas.microsoft.com/office/powerpoint/2010/main" val="534358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0E25-730D-51AA-9B5B-6C53916AED2C}"/>
              </a:ext>
            </a:extLst>
          </p:cNvPr>
          <p:cNvSpPr>
            <a:spLocks noGrp="1"/>
          </p:cNvSpPr>
          <p:nvPr>
            <p:ph type="title"/>
          </p:nvPr>
        </p:nvSpPr>
        <p:spPr/>
        <p:txBody>
          <a:bodyPr/>
          <a:lstStyle/>
          <a:p>
            <a:r>
              <a:rPr lang="en-IN" b="1" u="sng" dirty="0">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085C21B3-CA02-40C9-0ABA-07A66275EF22}"/>
              </a:ext>
            </a:extLst>
          </p:cNvPr>
          <p:cNvSpPr>
            <a:spLocks noGrp="1"/>
          </p:cNvSpPr>
          <p:nvPr>
            <p:ph idx="1"/>
          </p:nvPr>
        </p:nvSpPr>
        <p:spPr>
          <a:ln>
            <a:noFill/>
          </a:ln>
          <a:effectLst>
            <a:outerShdw blurRad="107950" dist="12700" dir="5400000" algn="ctr">
              <a:srgbClr val="000000"/>
            </a:outerShdw>
          </a:effectLst>
        </p:spPr>
        <p:txBody>
          <a:bodyPr>
            <a:normAutofit fontScale="70000" lnSpcReduction="20000"/>
          </a:bodyPr>
          <a:lstStyle/>
          <a:p>
            <a:pPr marL="0" indent="0" algn="just">
              <a:buNone/>
            </a:pPr>
            <a:r>
              <a:rPr lang="en-US" sz="3600" b="1" dirty="0">
                <a:latin typeface="+mj-lt"/>
              </a:rPr>
              <a:t>This project analyzes the relationship between sleep patterns, lifestyle habits, and key health indicators using Power BI. The dataset includes information on sleep duration, sleep quality, stress levels, physical activity, daily steps, heart rate, blood pressure, and sleep disorders across different age groups, genders, and occupations.</a:t>
            </a:r>
          </a:p>
          <a:p>
            <a:pPr marL="0" indent="0" algn="just">
              <a:buNone/>
            </a:pPr>
            <a:r>
              <a:rPr lang="en-US" sz="3600" b="1" dirty="0">
                <a:latin typeface="+mj-lt"/>
              </a:rPr>
              <a:t>Using Power BI, Interactive dashboards were created to uncover trends, compare groups, and provide actionable insights that support better health and wellness decisions</a:t>
            </a:r>
          </a:p>
          <a:p>
            <a:pPr marL="0" indent="0">
              <a:buNone/>
            </a:pPr>
            <a:endParaRPr lang="en-IN" dirty="0"/>
          </a:p>
        </p:txBody>
      </p:sp>
    </p:spTree>
    <p:extLst>
      <p:ext uri="{BB962C8B-B14F-4D97-AF65-F5344CB8AC3E}">
        <p14:creationId xmlns:p14="http://schemas.microsoft.com/office/powerpoint/2010/main" val="3503158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E5277-8897-2418-0D15-10E2E1901F60}"/>
              </a:ext>
            </a:extLst>
          </p:cNvPr>
          <p:cNvSpPr>
            <a:spLocks noGrp="1"/>
          </p:cNvSpPr>
          <p:nvPr>
            <p:ph type="title"/>
          </p:nvPr>
        </p:nvSpPr>
        <p:spPr/>
        <p:txBody>
          <a:bodyPr/>
          <a:lstStyle/>
          <a:p>
            <a:r>
              <a:rPr lang="en-IN" b="1" u="sng" dirty="0"/>
              <a:t>Objectives</a:t>
            </a:r>
          </a:p>
        </p:txBody>
      </p:sp>
      <p:sp>
        <p:nvSpPr>
          <p:cNvPr id="3" name="Content Placeholder 2">
            <a:extLst>
              <a:ext uri="{FF2B5EF4-FFF2-40B4-BE49-F238E27FC236}">
                <a16:creationId xmlns:a16="http://schemas.microsoft.com/office/drawing/2014/main" id="{AB0A8C60-33A3-28BC-FC6D-C78784ECCF38}"/>
              </a:ext>
            </a:extLst>
          </p:cNvPr>
          <p:cNvSpPr>
            <a:spLocks noGrp="1"/>
          </p:cNvSpPr>
          <p:nvPr>
            <p:ph idx="1"/>
          </p:nvPr>
        </p:nvSpPr>
        <p:spPr/>
        <p:txBody>
          <a:bodyPr>
            <a:normAutofit fontScale="85000" lnSpcReduction="20000"/>
          </a:bodyPr>
          <a:lstStyle/>
          <a:p>
            <a:pPr algn="just"/>
            <a:r>
              <a:rPr lang="en-US" sz="2900" b="1" dirty="0">
                <a:effectLst>
                  <a:outerShdw blurRad="38100" dist="38100" dir="2700000" algn="tl">
                    <a:srgbClr val="000000">
                      <a:alpha val="43137"/>
                    </a:srgbClr>
                  </a:outerShdw>
                </a:effectLst>
                <a:latin typeface="+mj-lt"/>
              </a:rPr>
              <a:t>To analyze the relationship between physical activity level and sleep quality.</a:t>
            </a:r>
          </a:p>
          <a:p>
            <a:pPr algn="just"/>
            <a:r>
              <a:rPr lang="en-US" sz="2900" b="1" dirty="0">
                <a:effectLst>
                  <a:outerShdw blurRad="38100" dist="38100" dir="2700000" algn="tl">
                    <a:srgbClr val="000000">
                      <a:alpha val="43137"/>
                    </a:srgbClr>
                  </a:outerShdw>
                </a:effectLst>
                <a:latin typeface="+mj-lt"/>
              </a:rPr>
              <a:t>To identify how stress level impacts sleep duration and key health indicators.</a:t>
            </a:r>
          </a:p>
          <a:p>
            <a:pPr algn="just"/>
            <a:r>
              <a:rPr lang="en-US" sz="2900" b="1" dirty="0">
                <a:effectLst>
                  <a:outerShdw blurRad="38100" dist="38100" dir="2700000" algn="tl">
                    <a:srgbClr val="000000">
                      <a:alpha val="43137"/>
                    </a:srgbClr>
                  </a:outerShdw>
                </a:effectLst>
                <a:latin typeface="+mj-lt"/>
              </a:rPr>
              <a:t>To compare sleep patterns across different lifestyle categories.</a:t>
            </a:r>
          </a:p>
          <a:p>
            <a:pPr algn="just"/>
            <a:r>
              <a:rPr lang="en-US" sz="2900" b="1" dirty="0">
                <a:effectLst>
                  <a:outerShdw blurRad="38100" dist="38100" dir="2700000" algn="tl">
                    <a:srgbClr val="000000">
                      <a:alpha val="43137"/>
                    </a:srgbClr>
                  </a:outerShdw>
                </a:effectLst>
                <a:latin typeface="+mj-lt"/>
              </a:rPr>
              <a:t>To examine how daily step count influences overall sleep duration.</a:t>
            </a:r>
          </a:p>
          <a:p>
            <a:pPr algn="just"/>
            <a:r>
              <a:rPr lang="en-US" sz="2900" b="1" dirty="0">
                <a:effectLst>
                  <a:outerShdw blurRad="38100" dist="38100" dir="2700000" algn="tl">
                    <a:srgbClr val="000000">
                      <a:alpha val="43137"/>
                    </a:srgbClr>
                  </a:outerShdw>
                </a:effectLst>
                <a:latin typeface="+mj-lt"/>
              </a:rPr>
              <a:t>To a</a:t>
            </a:r>
            <a:r>
              <a:rPr lang="en-US" b="1" dirty="0">
                <a:effectLst>
                  <a:outerShdw blurRad="38100" dist="38100" dir="2700000" algn="tl">
                    <a:srgbClr val="000000">
                      <a:alpha val="43137"/>
                    </a:srgbClr>
                  </a:outerShdw>
                </a:effectLst>
                <a:latin typeface="+mj-lt"/>
              </a:rPr>
              <a:t>nalyze the overall distribution of sleep disorders among individuals.</a:t>
            </a:r>
            <a:endParaRPr lang="en-IN" b="1" dirty="0">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288216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8A1DD-E35A-9C3F-BE61-75F327D30B42}"/>
              </a:ext>
            </a:extLst>
          </p:cNvPr>
          <p:cNvSpPr>
            <a:spLocks noGrp="1"/>
          </p:cNvSpPr>
          <p:nvPr>
            <p:ph type="title"/>
          </p:nvPr>
        </p:nvSpPr>
        <p:spPr>
          <a:xfrm>
            <a:off x="446690" y="36786"/>
            <a:ext cx="2653862" cy="730469"/>
          </a:xfrm>
        </p:spPr>
        <p:txBody>
          <a:bodyPr/>
          <a:lstStyle/>
          <a:p>
            <a:r>
              <a:rPr lang="en-IN" b="1" u="sng" dirty="0"/>
              <a:t>Dataset</a:t>
            </a:r>
          </a:p>
        </p:txBody>
      </p:sp>
      <p:pic>
        <p:nvPicPr>
          <p:cNvPr id="13" name="Content Placeholder 12">
            <a:extLst>
              <a:ext uri="{FF2B5EF4-FFF2-40B4-BE49-F238E27FC236}">
                <a16:creationId xmlns:a16="http://schemas.microsoft.com/office/drawing/2014/main" id="{9B347B85-712B-AD26-6965-B8EE354920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72662"/>
            <a:ext cx="12192000" cy="6185338"/>
          </a:xfrm>
        </p:spPr>
      </p:pic>
    </p:spTree>
    <p:extLst>
      <p:ext uri="{BB962C8B-B14F-4D97-AF65-F5344CB8AC3E}">
        <p14:creationId xmlns:p14="http://schemas.microsoft.com/office/powerpoint/2010/main" val="2060333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31234-DD2E-BB56-A275-4DF8EF7177C3}"/>
              </a:ext>
            </a:extLst>
          </p:cNvPr>
          <p:cNvSpPr>
            <a:spLocks noGrp="1"/>
          </p:cNvSpPr>
          <p:nvPr>
            <p:ph type="title"/>
          </p:nvPr>
        </p:nvSpPr>
        <p:spPr>
          <a:xfrm>
            <a:off x="762000" y="762000"/>
            <a:ext cx="10668000" cy="684835"/>
          </a:xfrm>
        </p:spPr>
        <p:txBody>
          <a:bodyPr>
            <a:normAutofit fontScale="90000"/>
          </a:bodyPr>
          <a:lstStyle/>
          <a:p>
            <a:r>
              <a:rPr lang="en-IN" b="1" u="sng" dirty="0"/>
              <a:t>Criteria Used</a:t>
            </a:r>
          </a:p>
        </p:txBody>
      </p:sp>
      <p:sp>
        <p:nvSpPr>
          <p:cNvPr id="3" name="Content Placeholder 2">
            <a:extLst>
              <a:ext uri="{FF2B5EF4-FFF2-40B4-BE49-F238E27FC236}">
                <a16:creationId xmlns:a16="http://schemas.microsoft.com/office/drawing/2014/main" id="{EEA551F8-0D32-EB1B-5718-12545912FB17}"/>
              </a:ext>
            </a:extLst>
          </p:cNvPr>
          <p:cNvSpPr>
            <a:spLocks noGrp="1"/>
          </p:cNvSpPr>
          <p:nvPr>
            <p:ph idx="1"/>
          </p:nvPr>
        </p:nvSpPr>
        <p:spPr>
          <a:xfrm>
            <a:off x="762000" y="1446835"/>
            <a:ext cx="10668000" cy="5185193"/>
          </a:xfrm>
        </p:spPr>
        <p:txBody>
          <a:bodyPr>
            <a:normAutofit fontScale="47500" lnSpcReduction="20000"/>
          </a:bodyPr>
          <a:lstStyle/>
          <a:p>
            <a:r>
              <a:rPr lang="en-US" sz="3800" b="1" dirty="0">
                <a:effectLst>
                  <a:outerShdw blurRad="38100" dist="38100" dir="2700000" algn="tl">
                    <a:srgbClr val="000000">
                      <a:alpha val="43137"/>
                    </a:srgbClr>
                  </a:outerShdw>
                </a:effectLst>
                <a:latin typeface="+mj-lt"/>
              </a:rPr>
              <a:t>Avg.sleep quality = AVERAGE(Sleep_health_and_lifestyle_data[Quality of Sleep])</a:t>
            </a:r>
          </a:p>
          <a:p>
            <a:r>
              <a:rPr lang="en-US" sz="3800" b="1" dirty="0">
                <a:effectLst>
                  <a:outerShdw blurRad="38100" dist="38100" dir="2700000" algn="tl">
                    <a:srgbClr val="000000">
                      <a:alpha val="43137"/>
                    </a:srgbClr>
                  </a:outerShdw>
                </a:effectLst>
                <a:latin typeface="+mj-lt"/>
              </a:rPr>
              <a:t>Avg.sleep duration=AVERAGE(Sleep_health_and_lifestyle_data[Sleep Duration])</a:t>
            </a:r>
          </a:p>
          <a:p>
            <a:r>
              <a:rPr lang="en-US" sz="3800" b="1" dirty="0">
                <a:effectLst>
                  <a:outerShdw blurRad="38100" dist="38100" dir="2700000" algn="tl">
                    <a:srgbClr val="000000">
                      <a:alpha val="43137"/>
                    </a:srgbClr>
                  </a:outerShdw>
                </a:effectLst>
                <a:latin typeface="+mj-lt"/>
              </a:rPr>
              <a:t>Avg.stress level = AVERAGE(Sleep_health_and_lifestyle_data[Stress Level])</a:t>
            </a:r>
          </a:p>
          <a:p>
            <a:r>
              <a:rPr lang="en-US" sz="3800" b="1" dirty="0">
                <a:effectLst>
                  <a:outerShdw blurRad="38100" dist="38100" dir="2700000" algn="tl">
                    <a:srgbClr val="000000">
                      <a:alpha val="43137"/>
                    </a:srgbClr>
                  </a:outerShdw>
                </a:effectLst>
                <a:latin typeface="+mj-lt"/>
              </a:rPr>
              <a:t>Avg.daily steps = AVERAGE(Sleep_health_and_lifestyle_data[Daily Steps])</a:t>
            </a:r>
          </a:p>
          <a:p>
            <a:r>
              <a:rPr lang="en-US" sz="3800" b="1" dirty="0">
                <a:effectLst>
                  <a:outerShdw blurRad="38100" dist="38100" dir="2700000" algn="tl">
                    <a:srgbClr val="000000">
                      <a:alpha val="43137"/>
                    </a:srgbClr>
                  </a:outerShdw>
                </a:effectLst>
                <a:latin typeface="+mj-lt"/>
              </a:rPr>
              <a:t>Sleep disorder count = COUNT(Sleep_health_and_lifestyle_data[Sleep Disorder])</a:t>
            </a:r>
          </a:p>
          <a:p>
            <a:r>
              <a:rPr lang="en-US" sz="3800" b="1" dirty="0">
                <a:effectLst>
                  <a:outerShdw blurRad="38100" dist="38100" dir="2700000" algn="tl">
                    <a:srgbClr val="000000">
                      <a:alpha val="43137"/>
                    </a:srgbClr>
                  </a:outerShdw>
                </a:effectLst>
                <a:latin typeface="+mj-lt"/>
              </a:rPr>
              <a:t>Physical_activity_level = IF(Sleep_health_and_lifestyle_data[Daily Steps]&lt;5000,"low",IF(Sleep_health_and_lifestyle_data[Daily Steps]&lt;=8000,"moderate","high"))</a:t>
            </a:r>
          </a:p>
          <a:p>
            <a:r>
              <a:rPr lang="en-US" sz="3800" b="1" dirty="0">
                <a:effectLst>
                  <a:outerShdw blurRad="38100" dist="38100" dir="2700000" algn="tl">
                    <a:srgbClr val="000000">
                      <a:alpha val="43137"/>
                    </a:srgbClr>
                  </a:outerShdw>
                </a:effectLst>
                <a:latin typeface="+mj-lt"/>
              </a:rPr>
              <a:t>Stress level category = IF(Sleep_health_and_lifestyle_data[Stress Level]&lt;4,"low stress", IF(Sleep_health_and_lifestyle_data[Stress Level]&lt;=7,"moderate stress","high stress"))</a:t>
            </a:r>
          </a:p>
          <a:p>
            <a:r>
              <a:rPr lang="en-US" sz="3800" b="1" dirty="0">
                <a:latin typeface="+mj-lt"/>
              </a:rPr>
              <a:t>Daily Steps Category = IF (Sleep_health_and_lifestyle_data[Daily Steps] </a:t>
            </a:r>
            <a:r>
              <a:rPr lang="en-US" sz="3800" b="1">
                <a:latin typeface="+mj-lt"/>
              </a:rPr>
              <a:t>&lt; 5000, </a:t>
            </a:r>
            <a:r>
              <a:rPr lang="en-US" sz="3800" b="1" dirty="0">
                <a:latin typeface="+mj-lt"/>
              </a:rPr>
              <a:t>"&lt; 5,000",IF (Sleep_health_and_lifestyle_data[Daily Steps] &lt;= 8000, "5,000–8,000",IF (Sleep_health_and_lifestyle_data[Daily Steps]&lt;= 12000, "8,000–12,000", "12,000+“)))</a:t>
            </a:r>
          </a:p>
          <a:p>
            <a:endParaRPr lang="en-US" sz="3700" b="1" dirty="0">
              <a:effectLst>
                <a:outerShdw blurRad="38100" dist="38100" dir="2700000" algn="tl">
                  <a:srgbClr val="000000">
                    <a:alpha val="43137"/>
                  </a:srgbClr>
                </a:outerShdw>
              </a:effectLst>
              <a:latin typeface="+mj-lt"/>
            </a:endParaRPr>
          </a:p>
          <a:p>
            <a:endParaRPr lang="en-IN" dirty="0"/>
          </a:p>
        </p:txBody>
      </p:sp>
    </p:spTree>
    <p:extLst>
      <p:ext uri="{BB962C8B-B14F-4D97-AF65-F5344CB8AC3E}">
        <p14:creationId xmlns:p14="http://schemas.microsoft.com/office/powerpoint/2010/main" val="2722394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F2C60-2C07-A9C3-80F0-5BCFFBBF5E58}"/>
              </a:ext>
            </a:extLst>
          </p:cNvPr>
          <p:cNvSpPr>
            <a:spLocks noGrp="1"/>
          </p:cNvSpPr>
          <p:nvPr>
            <p:ph type="title"/>
          </p:nvPr>
        </p:nvSpPr>
        <p:spPr>
          <a:xfrm>
            <a:off x="194442" y="141890"/>
            <a:ext cx="10668000" cy="762000"/>
          </a:xfrm>
        </p:spPr>
        <p:txBody>
          <a:bodyPr>
            <a:normAutofit/>
          </a:bodyPr>
          <a:lstStyle/>
          <a:p>
            <a:r>
              <a:rPr lang="en-IN" sz="3600" b="1" u="sng" dirty="0"/>
              <a:t>Dashboard Design:Objectives and Visuals Used</a:t>
            </a:r>
          </a:p>
        </p:txBody>
      </p:sp>
      <p:sp>
        <p:nvSpPr>
          <p:cNvPr id="3" name="Content Placeholder 2">
            <a:extLst>
              <a:ext uri="{FF2B5EF4-FFF2-40B4-BE49-F238E27FC236}">
                <a16:creationId xmlns:a16="http://schemas.microsoft.com/office/drawing/2014/main" id="{F1EE8FB8-D852-89A0-2530-B1CA1D39D569}"/>
              </a:ext>
            </a:extLst>
          </p:cNvPr>
          <p:cNvSpPr>
            <a:spLocks noGrp="1"/>
          </p:cNvSpPr>
          <p:nvPr>
            <p:ph idx="1"/>
          </p:nvPr>
        </p:nvSpPr>
        <p:spPr>
          <a:xfrm>
            <a:off x="273269" y="1019503"/>
            <a:ext cx="11655972" cy="5580993"/>
          </a:xfrm>
        </p:spPr>
        <p:txBody>
          <a:bodyPr>
            <a:normAutofit fontScale="77500" lnSpcReduction="20000"/>
          </a:bodyPr>
          <a:lstStyle/>
          <a:p>
            <a:pPr algn="just"/>
            <a:r>
              <a:rPr lang="en-US" b="1" u="sng" dirty="0">
                <a:latin typeface="+mj-lt"/>
              </a:rPr>
              <a:t>Objective 1</a:t>
            </a:r>
            <a:r>
              <a:rPr lang="en-US" b="1" dirty="0">
                <a:latin typeface="+mj-lt"/>
              </a:rPr>
              <a:t>:Analyze the relationship between physical activity level and sleep quality.</a:t>
            </a:r>
          </a:p>
          <a:p>
            <a:pPr marL="0" indent="0" algn="just">
              <a:buNone/>
            </a:pPr>
            <a:r>
              <a:rPr lang="en-US" b="1" dirty="0">
                <a:latin typeface="+mj-lt"/>
              </a:rPr>
              <a:t>Bar Chart  is used to compare Average Sleep Quality by Physical Activity Level</a:t>
            </a:r>
          </a:p>
          <a:p>
            <a:pPr algn="just"/>
            <a:r>
              <a:rPr lang="en-US" b="1" u="sng" dirty="0">
                <a:latin typeface="+mj-lt"/>
              </a:rPr>
              <a:t>Objective 2</a:t>
            </a:r>
            <a:r>
              <a:rPr lang="en-US" b="1" dirty="0">
                <a:latin typeface="+mj-lt"/>
              </a:rPr>
              <a:t>:Identify how stress level impacts sleep duration and key health indicators.</a:t>
            </a:r>
          </a:p>
          <a:p>
            <a:pPr marL="0" indent="0" algn="just">
              <a:buNone/>
            </a:pPr>
            <a:r>
              <a:rPr lang="en-US" b="1" dirty="0">
                <a:latin typeface="+mj-lt"/>
              </a:rPr>
              <a:t>Scatter Plot is used compare Stress Level vs Sleep Duration(health indicators in     tooltip)</a:t>
            </a:r>
          </a:p>
          <a:p>
            <a:pPr algn="just"/>
            <a:r>
              <a:rPr lang="en-US" b="1" u="sng" dirty="0">
                <a:latin typeface="+mj-lt"/>
              </a:rPr>
              <a:t>Objective 3</a:t>
            </a:r>
            <a:r>
              <a:rPr lang="en-US" b="1" dirty="0">
                <a:latin typeface="+mj-lt"/>
              </a:rPr>
              <a:t>:Compare sleep patterns across different lifestyle categories.</a:t>
            </a:r>
          </a:p>
          <a:p>
            <a:pPr marL="0" indent="0" algn="just">
              <a:buNone/>
            </a:pPr>
            <a:r>
              <a:rPr lang="en-US" b="1" dirty="0">
                <a:latin typeface="+mj-lt"/>
              </a:rPr>
              <a:t>Matrix is used to compare Average Sleep Duration by Lifestyle Category</a:t>
            </a:r>
          </a:p>
          <a:p>
            <a:pPr algn="just"/>
            <a:r>
              <a:rPr lang="en-US" b="1" u="sng" dirty="0">
                <a:latin typeface="+mj-lt"/>
              </a:rPr>
              <a:t>Objective 4</a:t>
            </a:r>
            <a:r>
              <a:rPr lang="en-US" b="1" dirty="0">
                <a:latin typeface="+mj-lt"/>
              </a:rPr>
              <a:t>:Examine how daily step count influences overall sleep duration.</a:t>
            </a:r>
          </a:p>
          <a:p>
            <a:pPr marL="0" indent="0" algn="just">
              <a:buNone/>
            </a:pPr>
            <a:r>
              <a:rPr lang="en-US" b="1" dirty="0">
                <a:latin typeface="+mj-lt"/>
              </a:rPr>
              <a:t>Column Chart is used to compare Average Sleep Duration by Daily Step Range</a:t>
            </a:r>
          </a:p>
          <a:p>
            <a:pPr algn="just"/>
            <a:r>
              <a:rPr lang="en-US" b="1" u="sng" dirty="0">
                <a:latin typeface="+mj-lt"/>
              </a:rPr>
              <a:t>Objective 5</a:t>
            </a:r>
            <a:r>
              <a:rPr lang="en-US" b="1" dirty="0">
                <a:latin typeface="+mj-lt"/>
              </a:rPr>
              <a:t>:Analyze the distribution of sleep disorders across different age groups.</a:t>
            </a:r>
          </a:p>
          <a:p>
            <a:pPr marL="0" indent="0" algn="just">
              <a:buNone/>
            </a:pPr>
            <a:r>
              <a:rPr lang="en-US" b="1" dirty="0">
                <a:latin typeface="+mj-lt"/>
              </a:rPr>
              <a:t>Donut chart is used to compare  Sleep Disorder Count by Age Group</a:t>
            </a:r>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761218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DB2D-928E-1E45-DEAD-33F189E8060F}"/>
              </a:ext>
            </a:extLst>
          </p:cNvPr>
          <p:cNvSpPr>
            <a:spLocks noGrp="1"/>
          </p:cNvSpPr>
          <p:nvPr>
            <p:ph type="title"/>
          </p:nvPr>
        </p:nvSpPr>
        <p:spPr>
          <a:xfrm>
            <a:off x="0" y="139062"/>
            <a:ext cx="2832538" cy="614855"/>
          </a:xfrm>
        </p:spPr>
        <p:txBody>
          <a:bodyPr>
            <a:normAutofit fontScale="90000"/>
          </a:bodyPr>
          <a:lstStyle/>
          <a:p>
            <a:r>
              <a:rPr lang="en-IN" b="1" u="sng" dirty="0">
                <a:effectLst>
                  <a:outerShdw blurRad="38100" dist="38100" dir="2700000" algn="tl">
                    <a:srgbClr val="000000">
                      <a:alpha val="43137"/>
                    </a:srgbClr>
                  </a:outerShdw>
                </a:effectLst>
              </a:rPr>
              <a:t>Dashboard</a:t>
            </a:r>
          </a:p>
        </p:txBody>
      </p:sp>
      <p:pic>
        <p:nvPicPr>
          <p:cNvPr id="5" name="Content Placeholder 4">
            <a:extLst>
              <a:ext uri="{FF2B5EF4-FFF2-40B4-BE49-F238E27FC236}">
                <a16:creationId xmlns:a16="http://schemas.microsoft.com/office/drawing/2014/main" id="{BC50261E-C031-903B-63BA-6013F5B9A2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0"/>
          </a:xfrm>
          <a:scene3d>
            <a:camera prst="orthographicFront"/>
            <a:lightRig rig="threePt" dir="t"/>
          </a:scene3d>
          <a:sp3d>
            <a:bevelT/>
          </a:sp3d>
        </p:spPr>
      </p:pic>
    </p:spTree>
    <p:extLst>
      <p:ext uri="{BB962C8B-B14F-4D97-AF65-F5344CB8AC3E}">
        <p14:creationId xmlns:p14="http://schemas.microsoft.com/office/powerpoint/2010/main" val="416354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531E-E0E9-B1A9-46B4-0ED54ACA66CE}"/>
              </a:ext>
            </a:extLst>
          </p:cNvPr>
          <p:cNvSpPr>
            <a:spLocks noGrp="1"/>
          </p:cNvSpPr>
          <p:nvPr>
            <p:ph type="title"/>
          </p:nvPr>
        </p:nvSpPr>
        <p:spPr>
          <a:xfrm>
            <a:off x="762000" y="341587"/>
            <a:ext cx="2906110" cy="635876"/>
          </a:xfrm>
        </p:spPr>
        <p:txBody>
          <a:bodyPr>
            <a:normAutofit fontScale="90000"/>
          </a:bodyPr>
          <a:lstStyle/>
          <a:p>
            <a:r>
              <a:rPr lang="en-IN" b="1" u="sng" dirty="0">
                <a:effectLst>
                  <a:outerShdw blurRad="38100" dist="38100" dir="2700000" algn="tl">
                    <a:srgbClr val="000000">
                      <a:alpha val="43137"/>
                    </a:srgbClr>
                  </a:outerShdw>
                </a:effectLst>
              </a:rPr>
              <a:t>Conclusion</a:t>
            </a:r>
          </a:p>
        </p:txBody>
      </p:sp>
      <p:sp>
        <p:nvSpPr>
          <p:cNvPr id="3" name="Content Placeholder 2">
            <a:extLst>
              <a:ext uri="{FF2B5EF4-FFF2-40B4-BE49-F238E27FC236}">
                <a16:creationId xmlns:a16="http://schemas.microsoft.com/office/drawing/2014/main" id="{2029BE6F-CAA7-2536-3FCF-6DF8F4C3FAB7}"/>
              </a:ext>
            </a:extLst>
          </p:cNvPr>
          <p:cNvSpPr>
            <a:spLocks noGrp="1"/>
          </p:cNvSpPr>
          <p:nvPr>
            <p:ph idx="1"/>
          </p:nvPr>
        </p:nvSpPr>
        <p:spPr>
          <a:xfrm>
            <a:off x="762000" y="1145628"/>
            <a:ext cx="10668000" cy="5712372"/>
          </a:xfrm>
        </p:spPr>
        <p:txBody>
          <a:bodyPr/>
          <a:lstStyle/>
          <a:p>
            <a:pPr marL="0" indent="0">
              <a:buNone/>
            </a:pPr>
            <a:r>
              <a:rPr lang="en-IN" b="1" u="sng" dirty="0">
                <a:effectLst>
                  <a:outerShdw blurRad="38100" dist="38100" dir="2700000" algn="tl">
                    <a:srgbClr val="000000">
                      <a:alpha val="43137"/>
                    </a:srgbClr>
                  </a:outerShdw>
                </a:effectLst>
                <a:latin typeface="+mj-lt"/>
              </a:rPr>
              <a:t>Physical Activity Level vs Sleep Quality</a:t>
            </a:r>
          </a:p>
          <a:p>
            <a:pPr marL="0" indent="0" algn="just">
              <a:buNone/>
            </a:pPr>
            <a:r>
              <a:rPr lang="en-US" b="1" dirty="0">
                <a:effectLst>
                  <a:outerShdw blurRad="38100" dist="38100" dir="2700000" algn="tl">
                    <a:srgbClr val="000000">
                      <a:alpha val="43137"/>
                    </a:srgbClr>
                  </a:outerShdw>
                </a:effectLst>
                <a:latin typeface="+mj-lt"/>
              </a:rPr>
              <a:t>The analysis shows that moderate physical activity is associated with better sleep quality compared to both low and high activity levels.</a:t>
            </a:r>
          </a:p>
          <a:p>
            <a:pPr marL="0" indent="0" algn="just">
              <a:buNone/>
            </a:pPr>
            <a:r>
              <a:rPr lang="en-US" b="1" u="sng" dirty="0">
                <a:effectLst>
                  <a:outerShdw blurRad="38100" dist="38100" dir="2700000" algn="tl">
                    <a:srgbClr val="000000">
                      <a:alpha val="43137"/>
                    </a:srgbClr>
                  </a:outerShdw>
                </a:effectLst>
                <a:latin typeface="+mj-lt"/>
              </a:rPr>
              <a:t>Stress Level vs Sleep Duration</a:t>
            </a:r>
          </a:p>
          <a:p>
            <a:pPr marL="0" indent="0" algn="just">
              <a:buNone/>
            </a:pPr>
            <a:r>
              <a:rPr lang="en-US" b="1" dirty="0">
                <a:effectLst>
                  <a:outerShdw blurRad="38100" dist="38100" dir="2700000" algn="tl">
                    <a:srgbClr val="000000">
                      <a:alpha val="43137"/>
                    </a:srgbClr>
                  </a:outerShdw>
                </a:effectLst>
                <a:latin typeface="+mj-lt"/>
              </a:rPr>
              <a:t>The analysis indicates a negative correlation between stress level and sleep duration, where higher stress leads to reduced sleep hours.</a:t>
            </a:r>
            <a:endParaRPr lang="en-US" b="1" u="sng" dirty="0">
              <a:effectLst>
                <a:outerShdw blurRad="38100" dist="38100" dir="2700000" algn="tl">
                  <a:srgbClr val="000000">
                    <a:alpha val="43137"/>
                  </a:srgbClr>
                </a:outerShdw>
              </a:effectLst>
              <a:latin typeface="+mj-lt"/>
            </a:endParaRPr>
          </a:p>
          <a:p>
            <a:pPr marL="0" indent="0" algn="just">
              <a:buNone/>
            </a:pPr>
            <a:endParaRPr lang="en-IN" b="1" u="sng" dirty="0">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010660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5B21D-22A2-C170-1F6B-A7C2E4538F37}"/>
              </a:ext>
            </a:extLst>
          </p:cNvPr>
          <p:cNvSpPr>
            <a:spLocks noGrp="1"/>
          </p:cNvSpPr>
          <p:nvPr>
            <p:ph idx="1"/>
          </p:nvPr>
        </p:nvSpPr>
        <p:spPr>
          <a:xfrm>
            <a:off x="762000" y="0"/>
            <a:ext cx="10668000" cy="6858000"/>
          </a:xfrm>
        </p:spPr>
        <p:txBody>
          <a:bodyPr/>
          <a:lstStyle/>
          <a:p>
            <a:pPr marL="0" indent="0">
              <a:buNone/>
            </a:pPr>
            <a:r>
              <a:rPr lang="en-US" b="1" u="sng" dirty="0">
                <a:effectLst>
                  <a:outerShdw blurRad="38100" dist="38100" dir="2700000" algn="tl">
                    <a:srgbClr val="000000">
                      <a:alpha val="43137"/>
                    </a:srgbClr>
                  </a:outerShdw>
                </a:effectLst>
                <a:latin typeface="+mj-lt"/>
              </a:rPr>
              <a:t>Sleep Patterns vs Lifestyle Categories</a:t>
            </a:r>
          </a:p>
          <a:p>
            <a:pPr marL="0" indent="0" algn="just">
              <a:buNone/>
            </a:pPr>
            <a:r>
              <a:rPr lang="en-US" sz="2500" b="1" dirty="0">
                <a:effectLst>
                  <a:outerShdw blurRad="38100" dist="38100" dir="2700000" algn="tl">
                    <a:srgbClr val="000000">
                      <a:alpha val="43137"/>
                    </a:srgbClr>
                  </a:outerShdw>
                </a:effectLst>
                <a:latin typeface="+mj-lt"/>
              </a:rPr>
              <a:t>The analysis shows clear differences in sleep patterns across lifestyle categories, with moderate physical activity linked to healthier sleep behavior.</a:t>
            </a:r>
          </a:p>
          <a:p>
            <a:pPr marL="0" indent="0">
              <a:buNone/>
            </a:pPr>
            <a:r>
              <a:rPr lang="en-US" b="1" u="sng" dirty="0">
                <a:effectLst>
                  <a:outerShdw blurRad="38100" dist="38100" dir="2700000" algn="tl">
                    <a:srgbClr val="000000">
                      <a:alpha val="43137"/>
                    </a:srgbClr>
                  </a:outerShdw>
                </a:effectLst>
                <a:latin typeface="+mj-lt"/>
              </a:rPr>
              <a:t>Step Count vs Sleep Duration</a:t>
            </a:r>
          </a:p>
          <a:p>
            <a:pPr marL="0" indent="0" algn="just">
              <a:buNone/>
            </a:pPr>
            <a:r>
              <a:rPr lang="en-US" sz="2500" b="1" dirty="0">
                <a:effectLst>
                  <a:outerShdw blurRad="38100" dist="38100" dir="2700000" algn="tl">
                    <a:srgbClr val="000000">
                      <a:alpha val="43137"/>
                    </a:srgbClr>
                  </a:outerShdw>
                </a:effectLst>
                <a:latin typeface="+mj-lt"/>
              </a:rPr>
              <a:t>The analysis shows that moderate daily step counts are associated with longer sleep duration, highlighting the importance of balanced activity levels.</a:t>
            </a:r>
          </a:p>
          <a:p>
            <a:pPr marL="0" indent="0" algn="just">
              <a:buNone/>
            </a:pPr>
            <a:r>
              <a:rPr lang="en-US" b="1" u="sng" dirty="0">
                <a:effectLst>
                  <a:outerShdw blurRad="38100" dist="38100" dir="2700000" algn="tl">
                    <a:srgbClr val="000000">
                      <a:alpha val="43137"/>
                    </a:srgbClr>
                  </a:outerShdw>
                </a:effectLst>
                <a:latin typeface="+mj-lt"/>
              </a:rPr>
              <a:t>Distribution of Sleep Disorders Among Individuals</a:t>
            </a:r>
          </a:p>
          <a:p>
            <a:pPr marL="0" indent="0" algn="just">
              <a:buNone/>
            </a:pPr>
            <a:r>
              <a:rPr lang="en-US" sz="2500" b="1" dirty="0">
                <a:latin typeface="+mj-lt"/>
              </a:rPr>
              <a:t>The analysis shows that although most individuals do not have sleep disorders, nearly two-fifths of the population is affected by insomnia or sleep apnea.</a:t>
            </a:r>
            <a:endParaRPr lang="en-US" sz="2500" b="1" u="sng" dirty="0">
              <a:effectLst>
                <a:outerShdw blurRad="38100" dist="38100" dir="2700000" algn="tl">
                  <a:srgbClr val="000000">
                    <a:alpha val="43137"/>
                  </a:srgbClr>
                </a:outerShdw>
              </a:effectLst>
              <a:latin typeface="+mj-lt"/>
            </a:endParaRPr>
          </a:p>
          <a:p>
            <a:pPr marL="0" indent="0" algn="just">
              <a:buNone/>
            </a:pPr>
            <a:endParaRPr lang="en-IN" sz="2500" b="1" u="sng" dirty="0">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108179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B808-24A7-3E8C-15DE-5C97C12CAE2B}"/>
              </a:ext>
            </a:extLst>
          </p:cNvPr>
          <p:cNvSpPr>
            <a:spLocks noGrp="1"/>
          </p:cNvSpPr>
          <p:nvPr>
            <p:ph type="title"/>
          </p:nvPr>
        </p:nvSpPr>
        <p:spPr/>
        <p:txBody>
          <a:bodyPr/>
          <a:lstStyle/>
          <a:p>
            <a:r>
              <a:rPr lang="en-IN" b="1" u="sng" dirty="0">
                <a:effectLst>
                  <a:outerShdw blurRad="38100" dist="38100" dir="2700000" algn="tl">
                    <a:srgbClr val="000000">
                      <a:alpha val="43137"/>
                    </a:srgbClr>
                  </a:outerShdw>
                </a:effectLst>
              </a:rPr>
              <a:t>Suggestions</a:t>
            </a:r>
          </a:p>
        </p:txBody>
      </p:sp>
      <p:sp>
        <p:nvSpPr>
          <p:cNvPr id="3" name="Content Placeholder 2">
            <a:extLst>
              <a:ext uri="{FF2B5EF4-FFF2-40B4-BE49-F238E27FC236}">
                <a16:creationId xmlns:a16="http://schemas.microsoft.com/office/drawing/2014/main" id="{7E876940-E30A-325A-ADB7-1C6C9CB29C19}"/>
              </a:ext>
            </a:extLst>
          </p:cNvPr>
          <p:cNvSpPr>
            <a:spLocks noGrp="1"/>
          </p:cNvSpPr>
          <p:nvPr>
            <p:ph idx="1"/>
          </p:nvPr>
        </p:nvSpPr>
        <p:spPr/>
        <p:txBody>
          <a:bodyPr/>
          <a:lstStyle/>
          <a:p>
            <a:pPr algn="just"/>
            <a:r>
              <a:rPr lang="en-IN" b="1" dirty="0">
                <a:effectLst>
                  <a:outerShdw blurRad="38100" dist="38100" dir="2700000" algn="tl">
                    <a:srgbClr val="000000">
                      <a:alpha val="43137"/>
                    </a:srgbClr>
                  </a:outerShdw>
                </a:effectLst>
                <a:latin typeface="+mj-lt"/>
              </a:rPr>
              <a:t>Promote Moderate Physical Activity</a:t>
            </a:r>
          </a:p>
          <a:p>
            <a:pPr algn="just"/>
            <a:r>
              <a:rPr lang="en-IN" b="1" dirty="0">
                <a:effectLst>
                  <a:outerShdw blurRad="38100" dist="38100" dir="2700000" algn="tl">
                    <a:srgbClr val="000000">
                      <a:alpha val="43137"/>
                    </a:srgbClr>
                  </a:outerShdw>
                </a:effectLst>
                <a:latin typeface="+mj-lt"/>
              </a:rPr>
              <a:t>Implement Stress Management Strategies</a:t>
            </a:r>
          </a:p>
          <a:p>
            <a:pPr algn="just"/>
            <a:r>
              <a:rPr lang="en-IN" b="1" dirty="0">
                <a:effectLst>
                  <a:outerShdw blurRad="38100" dist="38100" dir="2700000" algn="tl">
                    <a:srgbClr val="000000">
                      <a:alpha val="43137"/>
                    </a:srgbClr>
                  </a:outerShdw>
                </a:effectLst>
                <a:latin typeface="+mj-lt"/>
              </a:rPr>
              <a:t>Encourage Balanced Daily Movement</a:t>
            </a:r>
          </a:p>
          <a:p>
            <a:pPr algn="just"/>
            <a:r>
              <a:rPr lang="en-US" b="1" dirty="0">
                <a:effectLst>
                  <a:outerShdw blurRad="38100" dist="38100" dir="2700000" algn="tl">
                    <a:srgbClr val="000000">
                      <a:alpha val="43137"/>
                    </a:srgbClr>
                  </a:outerShdw>
                </a:effectLst>
                <a:latin typeface="+mj-lt"/>
              </a:rPr>
              <a:t>Monitor and Address Sleep Disorders Early</a:t>
            </a:r>
          </a:p>
          <a:p>
            <a:pPr algn="just"/>
            <a:r>
              <a:rPr lang="en-IN" b="1" dirty="0">
                <a:effectLst>
                  <a:outerShdw blurRad="38100" dist="38100" dir="2700000" algn="tl">
                    <a:srgbClr val="000000">
                      <a:alpha val="43137"/>
                    </a:srgbClr>
                  </a:outerShdw>
                </a:effectLst>
                <a:latin typeface="+mj-lt"/>
              </a:rPr>
              <a:t>Promote Holistic Lifestyle Balance</a:t>
            </a:r>
          </a:p>
        </p:txBody>
      </p:sp>
    </p:spTree>
    <p:extLst>
      <p:ext uri="{BB962C8B-B14F-4D97-AF65-F5344CB8AC3E}">
        <p14:creationId xmlns:p14="http://schemas.microsoft.com/office/powerpoint/2010/main" val="969729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CC53-F634-551E-6387-13CF4302259B}"/>
              </a:ext>
            </a:extLst>
          </p:cNvPr>
          <p:cNvSpPr>
            <a:spLocks noGrp="1"/>
          </p:cNvSpPr>
          <p:nvPr>
            <p:ph type="title"/>
          </p:nvPr>
        </p:nvSpPr>
        <p:spPr/>
        <p:txBody>
          <a:bodyPr/>
          <a:lstStyle/>
          <a:p>
            <a:r>
              <a:rPr lang="en-IN" b="1" u="sng" dirty="0">
                <a:effectLst>
                  <a:outerShdw blurRad="38100" dist="38100" dir="2700000" algn="tl">
                    <a:srgbClr val="000000">
                      <a:alpha val="43137"/>
                    </a:srgbClr>
                  </a:outerShdw>
                </a:effectLst>
              </a:rPr>
              <a:t>Reference</a:t>
            </a:r>
          </a:p>
        </p:txBody>
      </p:sp>
      <p:sp>
        <p:nvSpPr>
          <p:cNvPr id="3" name="Content Placeholder 2">
            <a:extLst>
              <a:ext uri="{FF2B5EF4-FFF2-40B4-BE49-F238E27FC236}">
                <a16:creationId xmlns:a16="http://schemas.microsoft.com/office/drawing/2014/main" id="{3C54C60F-7D8A-8B3C-C99C-A66222DFFD34}"/>
              </a:ext>
            </a:extLst>
          </p:cNvPr>
          <p:cNvSpPr>
            <a:spLocks noGrp="1"/>
          </p:cNvSpPr>
          <p:nvPr>
            <p:ph idx="1"/>
          </p:nvPr>
        </p:nvSpPr>
        <p:spPr/>
        <p:txBody>
          <a:bodyPr/>
          <a:lstStyle/>
          <a:p>
            <a:r>
              <a:rPr lang="en-IN" b="1" dirty="0">
                <a:effectLst>
                  <a:outerShdw blurRad="38100" dist="38100" dir="2700000" algn="tl">
                    <a:srgbClr val="000000">
                      <a:alpha val="43137"/>
                    </a:srgbClr>
                  </a:outerShdw>
                </a:effectLst>
                <a:latin typeface="+mj-lt"/>
                <a:hlinkClick r:id="rId2">
                  <a:extLst>
                    <a:ext uri="{A12FA001-AC4F-418D-AE19-62706E023703}">
                      <ahyp:hlinkClr xmlns:ahyp="http://schemas.microsoft.com/office/drawing/2018/hyperlinkcolor" val="tx"/>
                    </a:ext>
                  </a:extLst>
                </a:hlinkClick>
              </a:rPr>
              <a:t>https://www.kaggle.com/datasets/uom190346a/</a:t>
            </a:r>
            <a:r>
              <a:rPr lang="en-IN" b="1" dirty="0">
                <a:solidFill>
                  <a:srgbClr val="ECA855"/>
                </a:solidFill>
                <a:effectLst>
                  <a:outerShdw blurRad="38100" dist="38100" dir="2700000" algn="tl">
                    <a:srgbClr val="000000">
                      <a:alpha val="43137"/>
                    </a:srgbClr>
                  </a:outerShdw>
                </a:effectLst>
                <a:latin typeface="+mj-lt"/>
                <a:hlinkClick r:id="rId2">
                  <a:extLst>
                    <a:ext uri="{A12FA001-AC4F-418D-AE19-62706E023703}">
                      <ahyp:hlinkClr xmlns:ahyp="http://schemas.microsoft.com/office/drawing/2018/hyperlinkcolor" val="tx"/>
                    </a:ext>
                  </a:extLst>
                </a:hlinkClick>
              </a:rPr>
              <a:t>sleep-health-and-lifestyle-dataset</a:t>
            </a:r>
            <a:endParaRPr lang="en-IN" b="1" dirty="0">
              <a:effectLst>
                <a:outerShdw blurRad="38100" dist="38100" dir="2700000" algn="tl">
                  <a:srgbClr val="000000">
                    <a:alpha val="43137"/>
                  </a:srgbClr>
                </a:outerShdw>
              </a:effectLst>
              <a:latin typeface="+mj-lt"/>
            </a:endParaRPr>
          </a:p>
          <a:p>
            <a:r>
              <a:rPr lang="en-IN" b="1" dirty="0">
                <a:effectLst>
                  <a:outerShdw blurRad="38100" dist="38100" dir="2700000" algn="tl">
                    <a:srgbClr val="000000">
                      <a:alpha val="43137"/>
                    </a:srgbClr>
                  </a:outerShdw>
                </a:effectLst>
                <a:latin typeface="+mj-lt"/>
              </a:rPr>
              <a:t>POWER BI</a:t>
            </a:r>
          </a:p>
        </p:txBody>
      </p:sp>
    </p:spTree>
    <p:extLst>
      <p:ext uri="{BB962C8B-B14F-4D97-AF65-F5344CB8AC3E}">
        <p14:creationId xmlns:p14="http://schemas.microsoft.com/office/powerpoint/2010/main" val="1770684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0D37FE-246C-B66F-E288-7D81BBC5CB40}"/>
              </a:ext>
            </a:extLst>
          </p:cNvPr>
          <p:cNvSpPr>
            <a:spLocks noGrp="1"/>
          </p:cNvSpPr>
          <p:nvPr>
            <p:ph idx="1"/>
          </p:nvPr>
        </p:nvSpPr>
        <p:spPr/>
        <p:txBody>
          <a:bodyPr>
            <a:normAutofit/>
          </a:bodyPr>
          <a:lstStyle/>
          <a:p>
            <a:pPr marL="0" indent="0" algn="ctr">
              <a:buNone/>
            </a:pPr>
            <a:r>
              <a:rPr lang="en-IN" sz="8800" b="1" u="sng" dirty="0">
                <a:latin typeface="+mj-lt"/>
              </a:rPr>
              <a:t>.THANK YOU.</a:t>
            </a:r>
          </a:p>
        </p:txBody>
      </p:sp>
    </p:spTree>
    <p:extLst>
      <p:ext uri="{BB962C8B-B14F-4D97-AF65-F5344CB8AC3E}">
        <p14:creationId xmlns:p14="http://schemas.microsoft.com/office/powerpoint/2010/main" val="117979448"/>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docProps/app.xml><?xml version="1.0" encoding="utf-8"?>
<Properties xmlns="http://schemas.openxmlformats.org/officeDocument/2006/extended-properties" xmlns:vt="http://schemas.openxmlformats.org/officeDocument/2006/docPropsVTypes">
  <Template>Pebble</Template>
  <TotalTime>187</TotalTime>
  <Words>752</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Avenir Next LT Pro</vt:lpstr>
      <vt:lpstr>Avenir Next LT Pro Light</vt:lpstr>
      <vt:lpstr>Sitka Subheading</vt:lpstr>
      <vt:lpstr>PebbleVTI</vt:lpstr>
      <vt:lpstr>Impact of lifestyle factors on sleep quality and health. -Power BI </vt:lpstr>
      <vt:lpstr>Introduction</vt:lpstr>
      <vt:lpstr>Objectives</vt:lpstr>
      <vt:lpstr>Dataset</vt:lpstr>
      <vt:lpstr>Criteria Used</vt:lpstr>
      <vt:lpstr>Dashboard Design:Objectives and Visuals Used</vt:lpstr>
      <vt:lpstr>Dashboard</vt:lpstr>
      <vt:lpstr>Conclusion</vt:lpstr>
      <vt:lpstr>PowerPoint Presentation</vt:lpstr>
      <vt:lpstr>Suggestions</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Libin shibhu</dc:creator>
  <cp:lastModifiedBy>Libin shibhu</cp:lastModifiedBy>
  <cp:revision>7</cp:revision>
  <dcterms:created xsi:type="dcterms:W3CDTF">2026-01-27T06:24:48Z</dcterms:created>
  <dcterms:modified xsi:type="dcterms:W3CDTF">2026-02-02T07:01:27Z</dcterms:modified>
</cp:coreProperties>
</file>