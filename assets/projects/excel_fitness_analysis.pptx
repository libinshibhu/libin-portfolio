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3" d="100"/>
          <a:sy n="73" d="100"/>
        </p:scale>
        <p:origin x="107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DD129-A8C2-419E-B641-6CC90F50732D}"/>
              </a:ext>
            </a:extLst>
          </p:cNvPr>
          <p:cNvSpPr>
            <a:spLocks noGrp="1"/>
          </p:cNvSpPr>
          <p:nvPr>
            <p:ph type="ctrTitle"/>
          </p:nvPr>
        </p:nvSpPr>
        <p:spPr>
          <a:xfrm>
            <a:off x="762000" y="1524000"/>
            <a:ext cx="10668000" cy="22860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B33C04-8A23-4499-A6EF-1D190F0FB38E}"/>
              </a:ext>
            </a:extLst>
          </p:cNvPr>
          <p:cNvSpPr>
            <a:spLocks noGrp="1"/>
          </p:cNvSpPr>
          <p:nvPr>
            <p:ph type="subTitle" idx="1"/>
          </p:nvPr>
        </p:nvSpPr>
        <p:spPr>
          <a:xfrm>
            <a:off x="762000" y="4571999"/>
            <a:ext cx="10668000" cy="15240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FA99FB-5674-4BC5-949F-8D45EC167511}"/>
              </a:ext>
            </a:extLst>
          </p:cNvPr>
          <p:cNvSpPr>
            <a:spLocks noGrp="1"/>
          </p:cNvSpPr>
          <p:nvPr>
            <p:ph type="dt" sz="half" idx="10"/>
          </p:nvPr>
        </p:nvSpPr>
        <p:spPr/>
        <p:txBody>
          <a:bodyPr/>
          <a:lstStyle/>
          <a:p>
            <a:fld id="{76969C88-B244-455D-A017-012B25B1ACDD}" type="datetimeFigureOut">
              <a:rPr lang="en-US" smtClean="0"/>
              <a:t>2/11/2026</a:t>
            </a:fld>
            <a:endParaRPr lang="en-US"/>
          </a:p>
        </p:txBody>
      </p:sp>
      <p:sp>
        <p:nvSpPr>
          <p:cNvPr id="5" name="Footer Placeholder 4">
            <a:extLst>
              <a:ext uri="{FF2B5EF4-FFF2-40B4-BE49-F238E27FC236}">
                <a16:creationId xmlns:a16="http://schemas.microsoft.com/office/drawing/2014/main" id="{0763CF93-DD67-4FE2-8083-864693FE8E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05E934-32B6-44B1-9622-67F30BDA3F3A}"/>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226638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AF011-A499-4054-89BF-A4800A68F60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66FB6E8-D956-45B5-9B4A-9D31DF466B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CDB9DB-9E62-4292-915C-1DD4134740DB}"/>
              </a:ext>
            </a:extLst>
          </p:cNvPr>
          <p:cNvSpPr>
            <a:spLocks noGrp="1"/>
          </p:cNvSpPr>
          <p:nvPr>
            <p:ph type="dt" sz="half" idx="10"/>
          </p:nvPr>
        </p:nvSpPr>
        <p:spPr/>
        <p:txBody>
          <a:bodyPr/>
          <a:lstStyle/>
          <a:p>
            <a:fld id="{76969C88-B244-455D-A017-012B25B1ACDD}" type="datetimeFigureOut">
              <a:rPr lang="en-US" smtClean="0"/>
              <a:t>2/11/2026</a:t>
            </a:fld>
            <a:endParaRPr lang="en-US"/>
          </a:p>
        </p:txBody>
      </p:sp>
      <p:sp>
        <p:nvSpPr>
          <p:cNvPr id="5" name="Footer Placeholder 4">
            <a:extLst>
              <a:ext uri="{FF2B5EF4-FFF2-40B4-BE49-F238E27FC236}">
                <a16:creationId xmlns:a16="http://schemas.microsoft.com/office/drawing/2014/main" id="{2BD462F1-BC30-4172-8353-363123A1DB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92EE8A-96DF-4D7D-B434-778324756D04}"/>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844007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8453A-F2B4-4EDB-B8FA-150267BC1A9A}"/>
              </a:ext>
            </a:extLst>
          </p:cNvPr>
          <p:cNvSpPr>
            <a:spLocks noGrp="1"/>
          </p:cNvSpPr>
          <p:nvPr>
            <p:ph type="title"/>
          </p:nvPr>
        </p:nvSpPr>
        <p:spPr>
          <a:xfrm>
            <a:off x="762000" y="1524000"/>
            <a:ext cx="10668000" cy="3038475"/>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C46C51-ADF1-48FC-A4D9-38C369E78304}"/>
              </a:ext>
            </a:extLst>
          </p:cNvPr>
          <p:cNvSpPr>
            <a:spLocks noGrp="1"/>
          </p:cNvSpPr>
          <p:nvPr>
            <p:ph type="body" idx="1"/>
          </p:nvPr>
        </p:nvSpPr>
        <p:spPr>
          <a:xfrm>
            <a:off x="762000" y="4589463"/>
            <a:ext cx="10668000" cy="150653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C43B56-4DC7-490B-AEFD-55ED1ECFF82E}"/>
              </a:ext>
            </a:extLst>
          </p:cNvPr>
          <p:cNvSpPr>
            <a:spLocks noGrp="1"/>
          </p:cNvSpPr>
          <p:nvPr>
            <p:ph type="dt" sz="half" idx="10"/>
          </p:nvPr>
        </p:nvSpPr>
        <p:spPr/>
        <p:txBody>
          <a:bodyPr/>
          <a:lstStyle/>
          <a:p>
            <a:fld id="{76969C88-B244-455D-A017-012B25B1ACDD}" type="datetimeFigureOut">
              <a:rPr lang="en-US" smtClean="0"/>
              <a:t>2/11/2026</a:t>
            </a:fld>
            <a:endParaRPr lang="en-US"/>
          </a:p>
        </p:txBody>
      </p:sp>
      <p:sp>
        <p:nvSpPr>
          <p:cNvPr id="5" name="Footer Placeholder 4">
            <a:extLst>
              <a:ext uri="{FF2B5EF4-FFF2-40B4-BE49-F238E27FC236}">
                <a16:creationId xmlns:a16="http://schemas.microsoft.com/office/drawing/2014/main" id="{454738F8-C4B2-41D8-B627-A6DDB24B2D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F43D49-23F8-4C4B-9C30-EDC030EE6F7E}"/>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4269522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5556D-6916-42E6-8820-8A0D328A50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2747A5-C962-477F-89AA-A32385D57996}"/>
              </a:ext>
            </a:extLst>
          </p:cNvPr>
          <p:cNvSpPr>
            <a:spLocks noGrp="1"/>
          </p:cNvSpPr>
          <p:nvPr>
            <p:ph sz="half" idx="1"/>
          </p:nvPr>
        </p:nvSpPr>
        <p:spPr>
          <a:xfrm>
            <a:off x="762000" y="2285999"/>
            <a:ext cx="5151119" cy="3810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CD08312-30FC-44D8-B2A9-B5CAAD9F066F}"/>
              </a:ext>
            </a:extLst>
          </p:cNvPr>
          <p:cNvSpPr>
            <a:spLocks noGrp="1"/>
          </p:cNvSpPr>
          <p:nvPr>
            <p:ph sz="half" idx="2"/>
          </p:nvPr>
        </p:nvSpPr>
        <p:spPr>
          <a:xfrm>
            <a:off x="6278879" y="2285999"/>
            <a:ext cx="5151121" cy="3810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BED84EB-AF90-4F19-A376-0FE5E50F9EA5}"/>
              </a:ext>
            </a:extLst>
          </p:cNvPr>
          <p:cNvSpPr>
            <a:spLocks noGrp="1"/>
          </p:cNvSpPr>
          <p:nvPr>
            <p:ph type="dt" sz="half" idx="10"/>
          </p:nvPr>
        </p:nvSpPr>
        <p:spPr/>
        <p:txBody>
          <a:bodyPr/>
          <a:lstStyle/>
          <a:p>
            <a:fld id="{76969C88-B244-455D-A017-012B25B1ACDD}" type="datetimeFigureOut">
              <a:rPr lang="en-US" smtClean="0"/>
              <a:t>2/11/2026</a:t>
            </a:fld>
            <a:endParaRPr lang="en-US"/>
          </a:p>
        </p:txBody>
      </p:sp>
      <p:sp>
        <p:nvSpPr>
          <p:cNvPr id="6" name="Footer Placeholder 5">
            <a:extLst>
              <a:ext uri="{FF2B5EF4-FFF2-40B4-BE49-F238E27FC236}">
                <a16:creationId xmlns:a16="http://schemas.microsoft.com/office/drawing/2014/main" id="{7B838ED0-2789-41E4-A36E-83F92CA2E8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221A83-6D60-45F0-9173-5F6D2438BC36}"/>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970162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FFAE2-03F4-4A94-86C4-9305B237CA89}"/>
              </a:ext>
            </a:extLst>
          </p:cNvPr>
          <p:cNvSpPr>
            <a:spLocks noGrp="1"/>
          </p:cNvSpPr>
          <p:nvPr>
            <p:ph type="title"/>
          </p:nvPr>
        </p:nvSpPr>
        <p:spPr>
          <a:xfrm>
            <a:off x="762000" y="762000"/>
            <a:ext cx="10668000" cy="15240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BAC5A5-E184-46B6-8AB5-C8E132D3624B}"/>
              </a:ext>
            </a:extLst>
          </p:cNvPr>
          <p:cNvSpPr>
            <a:spLocks noGrp="1"/>
          </p:cNvSpPr>
          <p:nvPr>
            <p:ph type="body" idx="1"/>
          </p:nvPr>
        </p:nvSpPr>
        <p:spPr>
          <a:xfrm>
            <a:off x="762000" y="2285999"/>
            <a:ext cx="5151119"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DCFE87-5D80-45CB-9D13-DFC9AFCEC7F9}"/>
              </a:ext>
            </a:extLst>
          </p:cNvPr>
          <p:cNvSpPr>
            <a:spLocks noGrp="1"/>
          </p:cNvSpPr>
          <p:nvPr>
            <p:ph sz="half" idx="2"/>
          </p:nvPr>
        </p:nvSpPr>
        <p:spPr>
          <a:xfrm>
            <a:off x="762000" y="3048000"/>
            <a:ext cx="5151119"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AAC1E5A-8423-4749-8EDA-E13425F69658}"/>
              </a:ext>
            </a:extLst>
          </p:cNvPr>
          <p:cNvSpPr>
            <a:spLocks noGrp="1"/>
          </p:cNvSpPr>
          <p:nvPr>
            <p:ph type="body" sz="quarter" idx="3"/>
          </p:nvPr>
        </p:nvSpPr>
        <p:spPr>
          <a:xfrm>
            <a:off x="6278878" y="2286000"/>
            <a:ext cx="5151122"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832AAA-4BB8-4A3D-9C79-516F82F8001D}"/>
              </a:ext>
            </a:extLst>
          </p:cNvPr>
          <p:cNvSpPr>
            <a:spLocks noGrp="1"/>
          </p:cNvSpPr>
          <p:nvPr>
            <p:ph sz="quarter" idx="4"/>
          </p:nvPr>
        </p:nvSpPr>
        <p:spPr>
          <a:xfrm>
            <a:off x="6278878" y="3048000"/>
            <a:ext cx="5151122"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0BEC63-51D3-4C70-B804-BE9EF765AD21}"/>
              </a:ext>
            </a:extLst>
          </p:cNvPr>
          <p:cNvSpPr>
            <a:spLocks noGrp="1"/>
          </p:cNvSpPr>
          <p:nvPr>
            <p:ph type="dt" sz="half" idx="10"/>
          </p:nvPr>
        </p:nvSpPr>
        <p:spPr/>
        <p:txBody>
          <a:bodyPr/>
          <a:lstStyle/>
          <a:p>
            <a:fld id="{76969C88-B244-455D-A017-012B25B1ACDD}" type="datetimeFigureOut">
              <a:rPr lang="en-US" smtClean="0"/>
              <a:t>2/11/2026</a:t>
            </a:fld>
            <a:endParaRPr lang="en-US"/>
          </a:p>
        </p:txBody>
      </p:sp>
      <p:sp>
        <p:nvSpPr>
          <p:cNvPr id="8" name="Footer Placeholder 7">
            <a:extLst>
              <a:ext uri="{FF2B5EF4-FFF2-40B4-BE49-F238E27FC236}">
                <a16:creationId xmlns:a16="http://schemas.microsoft.com/office/drawing/2014/main" id="{735CA295-8563-402F-92C3-1F20C977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FA5918-109D-4342-84C0-9774A52C9E78}"/>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933876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F2662-CBD1-4498-9B6E-2961F5EF1B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F739AE-8101-4C18-8CF3-911BDF3978A8}"/>
              </a:ext>
            </a:extLst>
          </p:cNvPr>
          <p:cNvSpPr>
            <a:spLocks noGrp="1"/>
          </p:cNvSpPr>
          <p:nvPr>
            <p:ph type="dt" sz="half" idx="10"/>
          </p:nvPr>
        </p:nvSpPr>
        <p:spPr/>
        <p:txBody>
          <a:bodyPr/>
          <a:lstStyle/>
          <a:p>
            <a:fld id="{76969C88-B244-455D-A017-012B25B1ACDD}" type="datetimeFigureOut">
              <a:rPr lang="en-US" smtClean="0"/>
              <a:t>2/11/2026</a:t>
            </a:fld>
            <a:endParaRPr lang="en-US"/>
          </a:p>
        </p:txBody>
      </p:sp>
      <p:sp>
        <p:nvSpPr>
          <p:cNvPr id="4" name="Footer Placeholder 3">
            <a:extLst>
              <a:ext uri="{FF2B5EF4-FFF2-40B4-BE49-F238E27FC236}">
                <a16:creationId xmlns:a16="http://schemas.microsoft.com/office/drawing/2014/main" id="{66EB1C88-D181-449C-9BE1-E85068C188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38A2C9-E93B-4F0A-A021-9E3AEBC3FA88}"/>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945669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0AE8D9-9B42-438E-ADA6-CCFE45788460}"/>
              </a:ext>
            </a:extLst>
          </p:cNvPr>
          <p:cNvSpPr>
            <a:spLocks noGrp="1"/>
          </p:cNvSpPr>
          <p:nvPr>
            <p:ph type="dt" sz="half" idx="10"/>
          </p:nvPr>
        </p:nvSpPr>
        <p:spPr/>
        <p:txBody>
          <a:bodyPr/>
          <a:lstStyle/>
          <a:p>
            <a:fld id="{76969C88-B244-455D-A017-012B25B1ACDD}" type="datetimeFigureOut">
              <a:rPr lang="en-US" smtClean="0"/>
              <a:t>2/11/2026</a:t>
            </a:fld>
            <a:endParaRPr lang="en-US"/>
          </a:p>
        </p:txBody>
      </p:sp>
      <p:sp>
        <p:nvSpPr>
          <p:cNvPr id="3" name="Footer Placeholder 2">
            <a:extLst>
              <a:ext uri="{FF2B5EF4-FFF2-40B4-BE49-F238E27FC236}">
                <a16:creationId xmlns:a16="http://schemas.microsoft.com/office/drawing/2014/main" id="{C4F792B9-A8AF-4E13-8A25-741E89691E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3A2CF6-DBC5-4491-B213-B3CD09D3130C}"/>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357614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27076-58C8-494C-B6B1-DC86F62DDC24}"/>
              </a:ext>
            </a:extLst>
          </p:cNvPr>
          <p:cNvSpPr>
            <a:spLocks noGrp="1"/>
          </p:cNvSpPr>
          <p:nvPr>
            <p:ph type="title"/>
          </p:nvPr>
        </p:nvSpPr>
        <p:spPr>
          <a:xfrm>
            <a:off x="762000" y="761998"/>
            <a:ext cx="3810000" cy="1524002"/>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F29E36-0340-452F-8D0A-1BC3F3A388CF}"/>
              </a:ext>
            </a:extLst>
          </p:cNvPr>
          <p:cNvSpPr>
            <a:spLocks noGrp="1"/>
          </p:cNvSpPr>
          <p:nvPr>
            <p:ph idx="1"/>
          </p:nvPr>
        </p:nvSpPr>
        <p:spPr>
          <a:xfrm>
            <a:off x="5334000" y="762001"/>
            <a:ext cx="6096000" cy="5334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051C2E-E587-45E8-BDB1-DFF2F2791BF6}"/>
              </a:ext>
            </a:extLst>
          </p:cNvPr>
          <p:cNvSpPr>
            <a:spLocks noGrp="1"/>
          </p:cNvSpPr>
          <p:nvPr>
            <p:ph type="body" sz="half" idx="2"/>
          </p:nvPr>
        </p:nvSpPr>
        <p:spPr>
          <a:xfrm>
            <a:off x="762000" y="2286000"/>
            <a:ext cx="3810000" cy="38100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21D993-DEDD-470E-B48B-CB053A55A119}"/>
              </a:ext>
            </a:extLst>
          </p:cNvPr>
          <p:cNvSpPr>
            <a:spLocks noGrp="1"/>
          </p:cNvSpPr>
          <p:nvPr>
            <p:ph type="dt" sz="half" idx="10"/>
          </p:nvPr>
        </p:nvSpPr>
        <p:spPr/>
        <p:txBody>
          <a:bodyPr/>
          <a:lstStyle/>
          <a:p>
            <a:fld id="{76969C88-B244-455D-A017-012B25B1ACDD}" type="datetimeFigureOut">
              <a:rPr lang="en-US" smtClean="0"/>
              <a:t>2/11/2026</a:t>
            </a:fld>
            <a:endParaRPr lang="en-US"/>
          </a:p>
        </p:txBody>
      </p:sp>
      <p:sp>
        <p:nvSpPr>
          <p:cNvPr id="6" name="Footer Placeholder 5">
            <a:extLst>
              <a:ext uri="{FF2B5EF4-FFF2-40B4-BE49-F238E27FC236}">
                <a16:creationId xmlns:a16="http://schemas.microsoft.com/office/drawing/2014/main" id="{67926C64-7401-4CA4-859F-74472AF869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108F41-F1F6-431C-9B45-8A447F188CB8}"/>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70364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104FB-422C-4023-9381-EB12F1582D44}"/>
              </a:ext>
            </a:extLst>
          </p:cNvPr>
          <p:cNvSpPr>
            <a:spLocks noGrp="1"/>
          </p:cNvSpPr>
          <p:nvPr>
            <p:ph type="title"/>
          </p:nvPr>
        </p:nvSpPr>
        <p:spPr>
          <a:xfrm>
            <a:off x="762001" y="762000"/>
            <a:ext cx="3809999" cy="1524000"/>
          </a:xfrm>
        </p:spPr>
        <p:txBody>
          <a:bodyPr anchor="t" anchorCtr="0"/>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4DBA3AA-DE44-4B1F-91D1-09F67B89B941}"/>
              </a:ext>
            </a:extLst>
          </p:cNvPr>
          <p:cNvSpPr>
            <a:spLocks noGrp="1"/>
          </p:cNvSpPr>
          <p:nvPr>
            <p:ph type="pic" idx="1"/>
          </p:nvPr>
        </p:nvSpPr>
        <p:spPr>
          <a:xfrm>
            <a:off x="5334000" y="762001"/>
            <a:ext cx="6021388" cy="5334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A27B131-5117-4106-80DB-2AB208C4C953}"/>
              </a:ext>
            </a:extLst>
          </p:cNvPr>
          <p:cNvSpPr>
            <a:spLocks noGrp="1"/>
          </p:cNvSpPr>
          <p:nvPr>
            <p:ph type="body" sz="half" idx="2"/>
          </p:nvPr>
        </p:nvSpPr>
        <p:spPr>
          <a:xfrm>
            <a:off x="762001" y="2286000"/>
            <a:ext cx="3809999" cy="3810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13918A-7F23-4C72-8E80-591324A3046C}"/>
              </a:ext>
            </a:extLst>
          </p:cNvPr>
          <p:cNvSpPr>
            <a:spLocks noGrp="1"/>
          </p:cNvSpPr>
          <p:nvPr>
            <p:ph type="dt" sz="half" idx="10"/>
          </p:nvPr>
        </p:nvSpPr>
        <p:spPr/>
        <p:txBody>
          <a:bodyPr/>
          <a:lstStyle/>
          <a:p>
            <a:fld id="{76969C88-B244-455D-A017-012B25B1ACDD}" type="datetimeFigureOut">
              <a:rPr lang="en-US" smtClean="0"/>
              <a:t>2/11/2026</a:t>
            </a:fld>
            <a:endParaRPr lang="en-US"/>
          </a:p>
        </p:txBody>
      </p:sp>
      <p:sp>
        <p:nvSpPr>
          <p:cNvPr id="6" name="Footer Placeholder 5">
            <a:extLst>
              <a:ext uri="{FF2B5EF4-FFF2-40B4-BE49-F238E27FC236}">
                <a16:creationId xmlns:a16="http://schemas.microsoft.com/office/drawing/2014/main" id="{181071C8-76FE-4B83-8317-BD53C7C844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23681A-6F29-48FC-9409-319ED3E96635}"/>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1272231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A5B09-FC60-445F-8A12-79869BEC60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A219F7-87F2-409F-BB0B-8FE9270C9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AC2BB8-59E0-4EB2-B3BE-59D8641EE133}"/>
              </a:ext>
            </a:extLst>
          </p:cNvPr>
          <p:cNvSpPr>
            <a:spLocks noGrp="1"/>
          </p:cNvSpPr>
          <p:nvPr>
            <p:ph type="dt" sz="half" idx="10"/>
          </p:nvPr>
        </p:nvSpPr>
        <p:spPr/>
        <p:txBody>
          <a:bodyPr/>
          <a:lstStyle/>
          <a:p>
            <a:fld id="{76969C88-B244-455D-A017-012B25B1ACDD}" type="datetimeFigureOut">
              <a:rPr lang="en-US" smtClean="0"/>
              <a:t>2/11/2026</a:t>
            </a:fld>
            <a:endParaRPr lang="en-US"/>
          </a:p>
        </p:txBody>
      </p:sp>
      <p:sp>
        <p:nvSpPr>
          <p:cNvPr id="5" name="Footer Placeholder 4">
            <a:extLst>
              <a:ext uri="{FF2B5EF4-FFF2-40B4-BE49-F238E27FC236}">
                <a16:creationId xmlns:a16="http://schemas.microsoft.com/office/drawing/2014/main" id="{2D56984E-C0DE-461B-8011-8FC31B0EE9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FE7C03-68D3-445E-A5A2-8A935CFC977E}"/>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700593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21F0D7-112D-48B1-B32B-170B1AA2B51E}"/>
              </a:ext>
            </a:extLst>
          </p:cNvPr>
          <p:cNvSpPr>
            <a:spLocks noGrp="1"/>
          </p:cNvSpPr>
          <p:nvPr>
            <p:ph type="title" orient="vert"/>
          </p:nvPr>
        </p:nvSpPr>
        <p:spPr>
          <a:xfrm>
            <a:off x="9143998" y="761999"/>
            <a:ext cx="2286000" cy="53340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27A7C1-8E5B-41DA-9802-F242D382B66B}"/>
              </a:ext>
            </a:extLst>
          </p:cNvPr>
          <p:cNvSpPr>
            <a:spLocks noGrp="1"/>
          </p:cNvSpPr>
          <p:nvPr>
            <p:ph type="body" orient="vert" idx="1"/>
          </p:nvPr>
        </p:nvSpPr>
        <p:spPr>
          <a:xfrm>
            <a:off x="762001" y="761999"/>
            <a:ext cx="7619999" cy="5334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961CC7-F5B1-464A-8127-60645FB21081}"/>
              </a:ext>
            </a:extLst>
          </p:cNvPr>
          <p:cNvSpPr>
            <a:spLocks noGrp="1"/>
          </p:cNvSpPr>
          <p:nvPr>
            <p:ph type="dt" sz="half" idx="10"/>
          </p:nvPr>
        </p:nvSpPr>
        <p:spPr/>
        <p:txBody>
          <a:bodyPr/>
          <a:lstStyle/>
          <a:p>
            <a:fld id="{76969C88-B244-455D-A017-012B25B1ACDD}" type="datetimeFigureOut">
              <a:rPr lang="en-US" smtClean="0"/>
              <a:t>2/11/2026</a:t>
            </a:fld>
            <a:endParaRPr lang="en-US"/>
          </a:p>
        </p:txBody>
      </p:sp>
      <p:sp>
        <p:nvSpPr>
          <p:cNvPr id="5" name="Footer Placeholder 4">
            <a:extLst>
              <a:ext uri="{FF2B5EF4-FFF2-40B4-BE49-F238E27FC236}">
                <a16:creationId xmlns:a16="http://schemas.microsoft.com/office/drawing/2014/main" id="{53B94302-B381-4F37-A9FF-5CC5519175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707151-541F-4104-B989-83A9DCA6E616}"/>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1357090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A6EF5A53-0A64-4CA5-B9C7-1CB97CB5CF1C}"/>
              </a:ext>
            </a:extLst>
          </p:cNvPr>
          <p:cNvSpPr/>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11" name="Freeform: Shape 10">
            <a:extLst>
              <a:ext uri="{FF2B5EF4-FFF2-40B4-BE49-F238E27FC236}">
                <a16:creationId xmlns:a16="http://schemas.microsoft.com/office/drawing/2014/main" id="{34ABFBEA-4EB0-4D02-A2C0-1733CD3D6F12}"/>
              </a:ext>
            </a:extLst>
          </p:cNvPr>
          <p:cNvSpPr/>
          <p:nvPr/>
        </p:nvSpPr>
        <p:spPr>
          <a:xfrm>
            <a:off x="1" y="688126"/>
            <a:ext cx="448491" cy="1634252"/>
          </a:xfrm>
          <a:custGeom>
            <a:avLst/>
            <a:gdLst>
              <a:gd name="connsiteX0" fmla="*/ 0 w 448491"/>
              <a:gd name="connsiteY0" fmla="*/ 0 h 1634252"/>
              <a:gd name="connsiteX1" fmla="*/ 12983 w 448491"/>
              <a:gd name="connsiteY1" fmla="*/ 10508 h 1634252"/>
              <a:gd name="connsiteX2" fmla="*/ 441611 w 448491"/>
              <a:gd name="connsiteY2" fmla="*/ 863751 h 1634252"/>
              <a:gd name="connsiteX3" fmla="*/ 251011 w 448491"/>
              <a:gd name="connsiteY3" fmla="*/ 1302895 h 1634252"/>
              <a:gd name="connsiteX4" fmla="*/ 74605 w 448491"/>
              <a:gd name="connsiteY4" fmla="*/ 1543249 h 1634252"/>
              <a:gd name="connsiteX5" fmla="*/ 0 w 448491"/>
              <a:gd name="connsiteY5" fmla="*/ 1634252 h 163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491" h="1634252">
                <a:moveTo>
                  <a:pt x="0" y="0"/>
                </a:moveTo>
                <a:lnTo>
                  <a:pt x="12983" y="10508"/>
                </a:lnTo>
                <a:cubicBezTo>
                  <a:pt x="278410" y="241022"/>
                  <a:pt x="489787" y="530267"/>
                  <a:pt x="441611" y="863751"/>
                </a:cubicBezTo>
                <a:cubicBezTo>
                  <a:pt x="418542" y="1022632"/>
                  <a:pt x="337007" y="1166302"/>
                  <a:pt x="251011" y="1302895"/>
                </a:cubicBezTo>
                <a:cubicBezTo>
                  <a:pt x="215138" y="1359902"/>
                  <a:pt x="154723" y="1442480"/>
                  <a:pt x="74605" y="1543249"/>
                </a:cubicBezTo>
                <a:lnTo>
                  <a:pt x="0" y="16342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prstClr val="white"/>
              </a:solidFill>
              <a:latin typeface="Avenir Next LT Pro" panose="020B0504020202020204" pitchFamily="34" charset="0"/>
            </a:endParaRPr>
          </a:p>
        </p:txBody>
      </p:sp>
      <p:sp>
        <p:nvSpPr>
          <p:cNvPr id="12" name="Freeform: Shape 11">
            <a:extLst>
              <a:ext uri="{FF2B5EF4-FFF2-40B4-BE49-F238E27FC236}">
                <a16:creationId xmlns:a16="http://schemas.microsoft.com/office/drawing/2014/main" id="{19E083F6-57F4-487B-A766-EA0462B1EED8}"/>
              </a:ext>
            </a:extLst>
          </p:cNvPr>
          <p:cNvSpPr/>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laceholder 1">
            <a:extLst>
              <a:ext uri="{FF2B5EF4-FFF2-40B4-BE49-F238E27FC236}">
                <a16:creationId xmlns:a16="http://schemas.microsoft.com/office/drawing/2014/main" id="{A3A2F988-7148-4375-83D8-12EE5EBC7BE0}"/>
              </a:ext>
            </a:extLst>
          </p:cNvPr>
          <p:cNvSpPr>
            <a:spLocks noGrp="1"/>
          </p:cNvSpPr>
          <p:nvPr>
            <p:ph type="title"/>
          </p:nvPr>
        </p:nvSpPr>
        <p:spPr>
          <a:xfrm>
            <a:off x="762000" y="762000"/>
            <a:ext cx="10668000" cy="1524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896238-C5B3-4F3C-97FA-890E1A51A203}"/>
              </a:ext>
            </a:extLst>
          </p:cNvPr>
          <p:cNvSpPr>
            <a:spLocks noGrp="1"/>
          </p:cNvSpPr>
          <p:nvPr>
            <p:ph type="body" idx="1"/>
          </p:nvPr>
        </p:nvSpPr>
        <p:spPr>
          <a:xfrm>
            <a:off x="762000" y="2286000"/>
            <a:ext cx="10668000" cy="38180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D6E4474-0442-4E4B-9E5B-CA7B3951C1DA}"/>
              </a:ext>
            </a:extLst>
          </p:cNvPr>
          <p:cNvSpPr>
            <a:spLocks noGrp="1"/>
          </p:cNvSpPr>
          <p:nvPr>
            <p:ph type="dt" sz="half" idx="2"/>
          </p:nvPr>
        </p:nvSpPr>
        <p:spPr>
          <a:xfrm>
            <a:off x="9389165" y="194320"/>
            <a:ext cx="2040835" cy="365125"/>
          </a:xfrm>
          <a:prstGeom prst="rect">
            <a:avLst/>
          </a:prstGeom>
        </p:spPr>
        <p:txBody>
          <a:bodyPr vert="horz" lIns="91440" tIns="45720" rIns="91440" bIns="45720" rtlCol="0" anchor="ctr"/>
          <a:lstStyle>
            <a:lvl1pPr algn="r">
              <a:defRPr sz="1200">
                <a:solidFill>
                  <a:schemeClr val="tx1">
                    <a:tint val="75000"/>
                    <a:alpha val="70000"/>
                  </a:schemeClr>
                </a:solidFill>
              </a:defRPr>
            </a:lvl1pPr>
          </a:lstStyle>
          <a:p>
            <a:fld id="{76969C88-B244-455D-A017-012B25B1ACDD}" type="datetimeFigureOut">
              <a:rPr lang="en-US" smtClean="0"/>
              <a:pPr/>
              <a:t>2/11/2026</a:t>
            </a:fld>
            <a:endParaRPr lang="en-US"/>
          </a:p>
        </p:txBody>
      </p:sp>
      <p:sp>
        <p:nvSpPr>
          <p:cNvPr id="5" name="Footer Placeholder 4">
            <a:extLst>
              <a:ext uri="{FF2B5EF4-FFF2-40B4-BE49-F238E27FC236}">
                <a16:creationId xmlns:a16="http://schemas.microsoft.com/office/drawing/2014/main" id="{E0626A98-F887-40E1-B9BA-9D93DE90E022}"/>
              </a:ext>
            </a:extLst>
          </p:cNvPr>
          <p:cNvSpPr>
            <a:spLocks noGrp="1"/>
          </p:cNvSpPr>
          <p:nvPr>
            <p:ph type="ftr" sz="quarter" idx="3"/>
          </p:nvPr>
        </p:nvSpPr>
        <p:spPr>
          <a:xfrm>
            <a:off x="761999" y="6356350"/>
            <a:ext cx="6612835" cy="365125"/>
          </a:xfrm>
          <a:prstGeom prst="rect">
            <a:avLst/>
          </a:prstGeom>
        </p:spPr>
        <p:txBody>
          <a:bodyPr vert="horz" lIns="91440" tIns="45720" rIns="91440" bIns="45720" rtlCol="0" anchor="ctr"/>
          <a:lstStyle>
            <a:lvl1pPr algn="l">
              <a:defRPr sz="1200">
                <a:solidFill>
                  <a:schemeClr val="tx1">
                    <a:tint val="75000"/>
                    <a:alpha val="70000"/>
                  </a:schemeClr>
                </a:solidFill>
              </a:defRPr>
            </a:lvl1pPr>
          </a:lstStyle>
          <a:p>
            <a:endParaRPr lang="en-US" dirty="0"/>
          </a:p>
        </p:txBody>
      </p:sp>
      <p:sp>
        <p:nvSpPr>
          <p:cNvPr id="6" name="Slide Number Placeholder 5">
            <a:extLst>
              <a:ext uri="{FF2B5EF4-FFF2-40B4-BE49-F238E27FC236}">
                <a16:creationId xmlns:a16="http://schemas.microsoft.com/office/drawing/2014/main" id="{482C8119-73F6-4713-9AD3-3628DCDFB8F2}"/>
              </a:ext>
            </a:extLst>
          </p:cNvPr>
          <p:cNvSpPr>
            <a:spLocks noGrp="1"/>
          </p:cNvSpPr>
          <p:nvPr>
            <p:ph type="sldNum" sz="quarter" idx="4"/>
          </p:nvPr>
        </p:nvSpPr>
        <p:spPr>
          <a:xfrm>
            <a:off x="9906000" y="6356350"/>
            <a:ext cx="1524000" cy="365125"/>
          </a:xfrm>
          <a:prstGeom prst="rect">
            <a:avLst/>
          </a:prstGeom>
        </p:spPr>
        <p:txBody>
          <a:bodyPr vert="horz" lIns="91440" tIns="45720" rIns="91440" bIns="45720" rtlCol="0" anchor="ctr"/>
          <a:lstStyle>
            <a:lvl1pPr algn="r">
              <a:defRPr sz="1200">
                <a:solidFill>
                  <a:schemeClr val="tx1">
                    <a:tint val="75000"/>
                    <a:alpha val="70000"/>
                  </a:schemeClr>
                </a:solidFill>
              </a:defRPr>
            </a:lvl1pPr>
          </a:lstStyle>
          <a:p>
            <a:fld id="{07CE569E-9B7C-4CB9-AB80-C0841F922CFF}" type="slidenum">
              <a:rPr lang="en-US" smtClean="0"/>
              <a:pPr/>
              <a:t>‹#›</a:t>
            </a:fld>
            <a:endParaRPr lang="en-US"/>
          </a:p>
        </p:txBody>
      </p:sp>
    </p:spTree>
    <p:extLst>
      <p:ext uri="{BB962C8B-B14F-4D97-AF65-F5344CB8AC3E}">
        <p14:creationId xmlns:p14="http://schemas.microsoft.com/office/powerpoint/2010/main" val="3985455389"/>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25000"/>
        </a:lnSpc>
        <a:spcBef>
          <a:spcPts val="1000"/>
        </a:spcBef>
        <a:buFont typeface="Arial" panose="020B0604020202020204" pitchFamily="34" charset="0"/>
        <a:buChar char="•"/>
        <a:defRPr sz="2800" kern="1200">
          <a:solidFill>
            <a:schemeClr val="tx1">
              <a:alpha val="70000"/>
            </a:schemeClr>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2400" kern="1200">
          <a:solidFill>
            <a:schemeClr val="tx1">
              <a:alpha val="70000"/>
            </a:schemeClr>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2000" kern="1200">
          <a:solidFill>
            <a:schemeClr val="tx1">
              <a:alpha val="70000"/>
            </a:schemeClr>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800" kern="1200">
          <a:solidFill>
            <a:schemeClr val="tx1">
              <a:alpha val="70000"/>
            </a:schemeClr>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8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480">
          <p15:clr>
            <a:srgbClr val="F26B43"/>
          </p15:clr>
        </p15:guide>
        <p15:guide id="3" pos="960">
          <p15:clr>
            <a:srgbClr val="F26B43"/>
          </p15:clr>
        </p15:guide>
        <p15:guide id="4" pos="1440">
          <p15:clr>
            <a:srgbClr val="F26B43"/>
          </p15:clr>
        </p15:guide>
        <p15:guide id="5" pos="1920">
          <p15:clr>
            <a:srgbClr val="F26B43"/>
          </p15:clr>
        </p15:guide>
        <p15:guide id="6" pos="2400">
          <p15:clr>
            <a:srgbClr val="F26B43"/>
          </p15:clr>
        </p15:guide>
        <p15:guide id="7" pos="2880">
          <p15:clr>
            <a:srgbClr val="F26B43"/>
          </p15:clr>
        </p15:guide>
        <p15:guide id="8" pos="3360">
          <p15:clr>
            <a:srgbClr val="F26B43"/>
          </p15:clr>
        </p15:guide>
        <p15:guide id="9" pos="3840">
          <p15:clr>
            <a:srgbClr val="F26B43"/>
          </p15:clr>
        </p15:guide>
        <p15:guide id="10" pos="4320">
          <p15:clr>
            <a:srgbClr val="F26B43"/>
          </p15:clr>
        </p15:guide>
        <p15:guide id="11" pos="4800">
          <p15:clr>
            <a:srgbClr val="F26B43"/>
          </p15:clr>
        </p15:guide>
        <p15:guide id="12" pos="5280">
          <p15:clr>
            <a:srgbClr val="F26B43"/>
          </p15:clr>
        </p15:guide>
        <p15:guide id="13" pos="5760">
          <p15:clr>
            <a:srgbClr val="F26B43"/>
          </p15:clr>
        </p15:guide>
        <p15:guide id="14" pos="6240">
          <p15:clr>
            <a:srgbClr val="F26B43"/>
          </p15:clr>
        </p15:guide>
        <p15:guide id="15" pos="6720">
          <p15:clr>
            <a:srgbClr val="F26B43"/>
          </p15:clr>
        </p15:guide>
        <p15:guide id="16" pos="7200">
          <p15:clr>
            <a:srgbClr val="F26B43"/>
          </p15:clr>
        </p15:guide>
        <p15:guide id="17" pos="7680">
          <p15:clr>
            <a:srgbClr val="F26B43"/>
          </p15:clr>
        </p15:guide>
        <p15:guide id="18" orient="horz">
          <p15:clr>
            <a:srgbClr val="F26B43"/>
          </p15:clr>
        </p15:guide>
        <p15:guide id="19" orient="horz" pos="480">
          <p15:clr>
            <a:srgbClr val="F26B43"/>
          </p15:clr>
        </p15:guide>
        <p15:guide id="20" orient="horz" pos="960">
          <p15:clr>
            <a:srgbClr val="F26B43"/>
          </p15:clr>
        </p15:guide>
        <p15:guide id="21" orient="horz" pos="1440">
          <p15:clr>
            <a:srgbClr val="F26B43"/>
          </p15:clr>
        </p15:guide>
        <p15:guide id="22" orient="horz" pos="1920">
          <p15:clr>
            <a:srgbClr val="F26B43"/>
          </p15:clr>
        </p15:guide>
        <p15:guide id="23" orient="horz" pos="2400">
          <p15:clr>
            <a:srgbClr val="F26B43"/>
          </p15:clr>
        </p15:guide>
        <p15:guide id="24" orient="horz" pos="2880">
          <p15:clr>
            <a:srgbClr val="F26B43"/>
          </p15:clr>
        </p15:guide>
        <p15:guide id="25" orient="horz" pos="3360">
          <p15:clr>
            <a:srgbClr val="F26B43"/>
          </p15:clr>
        </p15:guide>
        <p15:guide id="26" orient="horz" pos="3840">
          <p15:clr>
            <a:srgbClr val="F26B43"/>
          </p15:clr>
        </p15:guide>
        <p15:guide id="27" orient="horz" pos="43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kaggle.com/datasets/valakhorasani/gym-members-exercise-datase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8F89A-56E1-728D-8C78-4FFFB2B11818}"/>
              </a:ext>
            </a:extLst>
          </p:cNvPr>
          <p:cNvSpPr>
            <a:spLocks noGrp="1"/>
          </p:cNvSpPr>
          <p:nvPr>
            <p:ph type="ctrTitle"/>
          </p:nvPr>
        </p:nvSpPr>
        <p:spPr/>
        <p:txBody>
          <a:bodyPr>
            <a:normAutofit/>
          </a:bodyPr>
          <a:lstStyle/>
          <a:p>
            <a:r>
              <a:rPr lang="en-US" sz="5400" b="1" dirty="0">
                <a:latin typeface="Bahnschrift SemiBold" panose="020B0502040204020203" pitchFamily="34" charset="0"/>
              </a:rPr>
              <a:t>Analysis of Gym Members Fitness and Workout Patterns.</a:t>
            </a:r>
            <a:endParaRPr lang="en-IN" sz="5400" dirty="0"/>
          </a:p>
        </p:txBody>
      </p:sp>
      <p:sp>
        <p:nvSpPr>
          <p:cNvPr id="3" name="Subtitle 2">
            <a:extLst>
              <a:ext uri="{FF2B5EF4-FFF2-40B4-BE49-F238E27FC236}">
                <a16:creationId xmlns:a16="http://schemas.microsoft.com/office/drawing/2014/main" id="{949613E7-6527-83DD-B372-33B750339007}"/>
              </a:ext>
            </a:extLst>
          </p:cNvPr>
          <p:cNvSpPr>
            <a:spLocks noGrp="1"/>
          </p:cNvSpPr>
          <p:nvPr>
            <p:ph type="subTitle" idx="1"/>
          </p:nvPr>
        </p:nvSpPr>
        <p:spPr>
          <a:xfrm>
            <a:off x="8818179" y="4734910"/>
            <a:ext cx="2611821" cy="1198180"/>
          </a:xfrm>
        </p:spPr>
        <p:txBody>
          <a:bodyPr/>
          <a:lstStyle/>
          <a:p>
            <a:r>
              <a:rPr lang="en-US" b="1" dirty="0"/>
              <a:t>Libin Shibhu</a:t>
            </a:r>
          </a:p>
          <a:p>
            <a:r>
              <a:rPr lang="en-US" b="1" dirty="0"/>
              <a:t>Data Analytics</a:t>
            </a:r>
            <a:endParaRPr lang="en-IN" b="1" dirty="0"/>
          </a:p>
          <a:p>
            <a:endParaRPr lang="en-IN" dirty="0"/>
          </a:p>
        </p:txBody>
      </p:sp>
    </p:spTree>
    <p:extLst>
      <p:ext uri="{BB962C8B-B14F-4D97-AF65-F5344CB8AC3E}">
        <p14:creationId xmlns:p14="http://schemas.microsoft.com/office/powerpoint/2010/main" val="3459056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4DC34-D26E-E1AC-A4D1-A038003EBC37}"/>
              </a:ext>
            </a:extLst>
          </p:cNvPr>
          <p:cNvSpPr>
            <a:spLocks noGrp="1"/>
          </p:cNvSpPr>
          <p:nvPr>
            <p:ph type="title"/>
          </p:nvPr>
        </p:nvSpPr>
        <p:spPr>
          <a:xfrm>
            <a:off x="762000" y="131380"/>
            <a:ext cx="3831021" cy="835572"/>
          </a:xfrm>
        </p:spPr>
        <p:txBody>
          <a:bodyPr/>
          <a:lstStyle/>
          <a:p>
            <a:r>
              <a:rPr lang="en-IN" b="1" u="sng" dirty="0">
                <a:effectLst>
                  <a:outerShdw blurRad="38100" dist="38100" dir="2700000" algn="tl">
                    <a:srgbClr val="000000">
                      <a:alpha val="43137"/>
                    </a:srgbClr>
                  </a:outerShdw>
                </a:effectLst>
                <a:latin typeface="Arial Rounded MT Bold" panose="020F0704030504030204" pitchFamily="34" charset="0"/>
              </a:rPr>
              <a:t>Introduction</a:t>
            </a:r>
            <a:endParaRPr lang="en-IN" dirty="0"/>
          </a:p>
        </p:txBody>
      </p:sp>
      <p:sp>
        <p:nvSpPr>
          <p:cNvPr id="3" name="Content Placeholder 2">
            <a:extLst>
              <a:ext uri="{FF2B5EF4-FFF2-40B4-BE49-F238E27FC236}">
                <a16:creationId xmlns:a16="http://schemas.microsoft.com/office/drawing/2014/main" id="{2EC509E0-04D6-05A8-E635-66C29F2BD502}"/>
              </a:ext>
            </a:extLst>
          </p:cNvPr>
          <p:cNvSpPr>
            <a:spLocks noGrp="1"/>
          </p:cNvSpPr>
          <p:nvPr>
            <p:ph idx="1"/>
          </p:nvPr>
        </p:nvSpPr>
        <p:spPr>
          <a:xfrm>
            <a:off x="762000" y="1177160"/>
            <a:ext cx="10668000" cy="4926924"/>
          </a:xfrm>
        </p:spPr>
        <p:txBody>
          <a:bodyPr>
            <a:normAutofit fontScale="85000" lnSpcReduction="10000"/>
          </a:bodyPr>
          <a:lstStyle/>
          <a:p>
            <a:pPr algn="just"/>
            <a:r>
              <a:rPr lang="en-US" b="1" dirty="0">
                <a:effectLst>
                  <a:outerShdw blurRad="38100" dist="38100" dir="2700000" algn="tl">
                    <a:srgbClr val="000000">
                      <a:alpha val="43137"/>
                    </a:srgbClr>
                  </a:outerShdw>
                </a:effectLst>
              </a:rPr>
              <a:t>This project analyzes a dataset of 973 gym members, capturing their workout habits, physical attributes, and key fitness metrics. The data includes heart rate information, calories burned, session duration, BMI, body fat percentage, and experience levels, allowing for meaningful exploration of fitness patterns and exercise behavior.</a:t>
            </a:r>
          </a:p>
          <a:p>
            <a:pPr algn="just"/>
            <a:r>
              <a:rPr lang="en-US" b="1" dirty="0">
                <a:effectLst>
                  <a:outerShdw blurRad="38100" dist="38100" dir="2700000" algn="tl">
                    <a:srgbClr val="000000">
                      <a:alpha val="43137"/>
                    </a:srgbClr>
                  </a:outerShdw>
                </a:effectLst>
              </a:rPr>
              <a:t>Using Excel, this project aims to uncover meaningful patterns within the dataset, analyze relationships between physical characteristics and workout behaviors, and identify trends that support better understanding of fitness progression. Through visualizations, summary statistics, and comparative analysis, the project highlights how different variables contribute to overall workout efficiency and health indicators.</a:t>
            </a:r>
            <a:endParaRPr lang="en-IN" b="1" dirty="0">
              <a:effectLst>
                <a:outerShdw blurRad="38100" dist="38100" dir="2700000" algn="tl">
                  <a:srgbClr val="000000">
                    <a:alpha val="43137"/>
                  </a:srgbClr>
                </a:outerShdw>
              </a:effectLst>
            </a:endParaRPr>
          </a:p>
          <a:p>
            <a:pPr marL="0" indent="0">
              <a:buNone/>
            </a:pPr>
            <a:endParaRPr lang="en-IN" dirty="0"/>
          </a:p>
        </p:txBody>
      </p:sp>
    </p:spTree>
    <p:extLst>
      <p:ext uri="{BB962C8B-B14F-4D97-AF65-F5344CB8AC3E}">
        <p14:creationId xmlns:p14="http://schemas.microsoft.com/office/powerpoint/2010/main" val="1283769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2535A-0325-0FEC-9C03-A9F457108D8E}"/>
              </a:ext>
            </a:extLst>
          </p:cNvPr>
          <p:cNvSpPr>
            <a:spLocks noGrp="1"/>
          </p:cNvSpPr>
          <p:nvPr>
            <p:ph type="title"/>
          </p:nvPr>
        </p:nvSpPr>
        <p:spPr>
          <a:xfrm>
            <a:off x="762000" y="194443"/>
            <a:ext cx="3200400" cy="667407"/>
          </a:xfrm>
        </p:spPr>
        <p:txBody>
          <a:bodyPr>
            <a:normAutofit fontScale="90000"/>
          </a:bodyPr>
          <a:lstStyle/>
          <a:p>
            <a:r>
              <a:rPr lang="en-IN" b="1" u="sng" dirty="0">
                <a:latin typeface="Arial Rounded MT Bold" panose="020F0704030504030204" pitchFamily="34" charset="0"/>
              </a:rPr>
              <a:t>Objectives</a:t>
            </a:r>
            <a:endParaRPr lang="en-IN" dirty="0"/>
          </a:p>
        </p:txBody>
      </p:sp>
      <p:sp>
        <p:nvSpPr>
          <p:cNvPr id="3" name="Content Placeholder 2">
            <a:extLst>
              <a:ext uri="{FF2B5EF4-FFF2-40B4-BE49-F238E27FC236}">
                <a16:creationId xmlns:a16="http://schemas.microsoft.com/office/drawing/2014/main" id="{87946A97-F019-300D-F5DE-B569D8CD849D}"/>
              </a:ext>
            </a:extLst>
          </p:cNvPr>
          <p:cNvSpPr>
            <a:spLocks noGrp="1"/>
          </p:cNvSpPr>
          <p:nvPr>
            <p:ph idx="1"/>
          </p:nvPr>
        </p:nvSpPr>
        <p:spPr>
          <a:xfrm>
            <a:off x="762000" y="1135118"/>
            <a:ext cx="10668000" cy="4968966"/>
          </a:xfrm>
        </p:spPr>
        <p:txBody>
          <a:bodyPr>
            <a:normAutofit fontScale="92500" lnSpcReduction="10000"/>
          </a:bodyPr>
          <a:lstStyle/>
          <a:p>
            <a:pPr algn="just"/>
            <a:r>
              <a:rPr lang="en-US" b="1" dirty="0">
                <a:effectLst>
                  <a:outerShdw blurRad="38100" dist="38100" dir="2700000" algn="tl">
                    <a:srgbClr val="000000">
                      <a:alpha val="43137"/>
                    </a:srgbClr>
                  </a:outerShdw>
                </a:effectLst>
              </a:rPr>
              <a:t>To compare average calories burned across different workout types.</a:t>
            </a:r>
          </a:p>
          <a:p>
            <a:pPr algn="just"/>
            <a:r>
              <a:rPr lang="en-US" b="1" dirty="0">
                <a:effectLst>
                  <a:outerShdw blurRad="38100" dist="38100" dir="2700000" algn="tl">
                    <a:srgbClr val="000000">
                      <a:alpha val="43137"/>
                    </a:srgbClr>
                  </a:outerShdw>
                </a:effectLst>
              </a:rPr>
              <a:t>To analyze heart rate metrics (Resting, Avg, Max BPM) by age group and gender.</a:t>
            </a:r>
          </a:p>
          <a:p>
            <a:pPr algn="just"/>
            <a:r>
              <a:rPr lang="en-US" b="1" dirty="0">
                <a:effectLst>
                  <a:outerShdw blurRad="38100" dist="38100" dir="2700000" algn="tl">
                    <a:srgbClr val="000000">
                      <a:alpha val="43137"/>
                    </a:srgbClr>
                  </a:outerShdw>
                </a:effectLst>
              </a:rPr>
              <a:t>To evaluate how BMI categories relate to calories burned and session duration.</a:t>
            </a:r>
          </a:p>
          <a:p>
            <a:pPr algn="just"/>
            <a:r>
              <a:rPr lang="en-US" b="1" dirty="0">
                <a:effectLst>
                  <a:outerShdw blurRad="38100" dist="38100" dir="2700000" algn="tl">
                    <a:srgbClr val="000000">
                      <a:alpha val="43137"/>
                    </a:srgbClr>
                  </a:outerShdw>
                </a:effectLst>
              </a:rPr>
              <a:t>To study the relationship between experience level and workout frequency.</a:t>
            </a:r>
          </a:p>
          <a:p>
            <a:pPr algn="just"/>
            <a:r>
              <a:rPr lang="en-US" b="1" dirty="0">
                <a:effectLst>
                  <a:outerShdw blurRad="38100" dist="38100" dir="2700000" algn="tl">
                    <a:srgbClr val="000000">
                      <a:alpha val="43137"/>
                    </a:srgbClr>
                  </a:outerShdw>
                </a:effectLst>
              </a:rPr>
              <a:t>To compare average water intake and body fat percentage among various workout types.</a:t>
            </a:r>
          </a:p>
          <a:p>
            <a:endParaRPr lang="en-IN" dirty="0"/>
          </a:p>
        </p:txBody>
      </p:sp>
    </p:spTree>
    <p:extLst>
      <p:ext uri="{BB962C8B-B14F-4D97-AF65-F5344CB8AC3E}">
        <p14:creationId xmlns:p14="http://schemas.microsoft.com/office/powerpoint/2010/main" val="4095382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77511-7C67-BF3C-66E1-C7DB97F72611}"/>
              </a:ext>
            </a:extLst>
          </p:cNvPr>
          <p:cNvSpPr>
            <a:spLocks noGrp="1"/>
          </p:cNvSpPr>
          <p:nvPr>
            <p:ph type="title"/>
          </p:nvPr>
        </p:nvSpPr>
        <p:spPr>
          <a:xfrm>
            <a:off x="0" y="139062"/>
            <a:ext cx="2370083" cy="614855"/>
          </a:xfrm>
        </p:spPr>
        <p:txBody>
          <a:bodyPr>
            <a:normAutofit fontScale="90000"/>
          </a:bodyPr>
          <a:lstStyle/>
          <a:p>
            <a:r>
              <a:rPr lang="en-IN" b="1" u="sng" dirty="0"/>
              <a:t>Dataset</a:t>
            </a:r>
            <a:endParaRPr lang="en-IN" dirty="0"/>
          </a:p>
        </p:txBody>
      </p:sp>
      <p:pic>
        <p:nvPicPr>
          <p:cNvPr id="4" name="Content Placeholder 3" descr="A screenshot of a computer">
            <a:extLst>
              <a:ext uri="{FF2B5EF4-FFF2-40B4-BE49-F238E27FC236}">
                <a16:creationId xmlns:a16="http://schemas.microsoft.com/office/drawing/2014/main" id="{135051E7-6C14-30A9-155E-815262304C9D}"/>
              </a:ext>
            </a:extLst>
          </p:cNvPr>
          <p:cNvPicPr>
            <a:picLocks noGrp="1" noChangeAspect="1"/>
          </p:cNvPicPr>
          <p:nvPr>
            <p:ph idx="1"/>
          </p:nvPr>
        </p:nvPicPr>
        <p:blipFill>
          <a:blip r:embed="rId2">
            <a:alphaModFix/>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0" y="753917"/>
            <a:ext cx="12192000" cy="6104083"/>
          </a:xfrm>
          <a:prstGeom prst="rect">
            <a:avLst/>
          </a:prstGeom>
        </p:spPr>
      </p:pic>
    </p:spTree>
    <p:extLst>
      <p:ext uri="{BB962C8B-B14F-4D97-AF65-F5344CB8AC3E}">
        <p14:creationId xmlns:p14="http://schemas.microsoft.com/office/powerpoint/2010/main" val="941891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68395-E240-EAA1-5E93-0B952C0A3524}"/>
              </a:ext>
            </a:extLst>
          </p:cNvPr>
          <p:cNvSpPr>
            <a:spLocks noGrp="1"/>
          </p:cNvSpPr>
          <p:nvPr>
            <p:ph type="title"/>
          </p:nvPr>
        </p:nvSpPr>
        <p:spPr>
          <a:xfrm>
            <a:off x="141889" y="118041"/>
            <a:ext cx="3379076" cy="635876"/>
          </a:xfrm>
        </p:spPr>
        <p:txBody>
          <a:bodyPr>
            <a:normAutofit fontScale="90000"/>
          </a:bodyPr>
          <a:lstStyle/>
          <a:p>
            <a:r>
              <a:rPr lang="en-IN" b="1" u="sng" dirty="0">
                <a:latin typeface="Arial Rounded MT Bold" panose="020F0704030504030204" pitchFamily="34" charset="0"/>
              </a:rPr>
              <a:t>Pivot Tables</a:t>
            </a:r>
            <a:endParaRPr lang="en-IN" dirty="0"/>
          </a:p>
        </p:txBody>
      </p:sp>
      <p:pic>
        <p:nvPicPr>
          <p:cNvPr id="4" name="Content Placeholder 3" descr="A screenshot of a computer">
            <a:extLst>
              <a:ext uri="{FF2B5EF4-FFF2-40B4-BE49-F238E27FC236}">
                <a16:creationId xmlns:a16="http://schemas.microsoft.com/office/drawing/2014/main" id="{733E0EDA-8A4A-59E3-AF57-A64BA7A83BB9}"/>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artisticTexturizer/>
                    </a14:imgEffect>
                  </a14:imgLayer>
                </a14:imgProps>
              </a:ext>
              <a:ext uri="{28A0092B-C50C-407E-A947-70E740481C1C}">
                <a14:useLocalDpi xmlns:a14="http://schemas.microsoft.com/office/drawing/2010/main" val="0"/>
              </a:ext>
            </a:extLst>
          </a:blip>
          <a:stretch>
            <a:fillRect/>
          </a:stretch>
        </p:blipFill>
        <p:spPr>
          <a:xfrm>
            <a:off x="0" y="753916"/>
            <a:ext cx="12192000" cy="6104083"/>
          </a:xfrm>
          <a:prstGeom prst="rect">
            <a:avLst/>
          </a:prstGeom>
        </p:spPr>
      </p:pic>
    </p:spTree>
    <p:extLst>
      <p:ext uri="{BB962C8B-B14F-4D97-AF65-F5344CB8AC3E}">
        <p14:creationId xmlns:p14="http://schemas.microsoft.com/office/powerpoint/2010/main" val="2214645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C46BB-25F6-DE61-A380-4718E064B0F2}"/>
              </a:ext>
            </a:extLst>
          </p:cNvPr>
          <p:cNvSpPr>
            <a:spLocks noGrp="1"/>
          </p:cNvSpPr>
          <p:nvPr>
            <p:ph type="title"/>
          </p:nvPr>
        </p:nvSpPr>
        <p:spPr>
          <a:xfrm>
            <a:off x="0" y="107532"/>
            <a:ext cx="3063766" cy="530772"/>
          </a:xfrm>
        </p:spPr>
        <p:txBody>
          <a:bodyPr>
            <a:normAutofit fontScale="90000"/>
          </a:bodyPr>
          <a:lstStyle/>
          <a:p>
            <a:r>
              <a:rPr lang="en-IN" b="1" u="sng" dirty="0">
                <a:latin typeface="Arial Rounded MT Bold" panose="020F0704030504030204" pitchFamily="34" charset="0"/>
              </a:rPr>
              <a:t>Dashboard</a:t>
            </a:r>
            <a:endParaRPr lang="en-IN" dirty="0"/>
          </a:p>
        </p:txBody>
      </p:sp>
      <p:pic>
        <p:nvPicPr>
          <p:cNvPr id="4" name="Content Placeholder 3" descr="A screenshot of a computer">
            <a:extLst>
              <a:ext uri="{FF2B5EF4-FFF2-40B4-BE49-F238E27FC236}">
                <a16:creationId xmlns:a16="http://schemas.microsoft.com/office/drawing/2014/main" id="{B25C79CA-A520-B15A-33D5-C64995B09F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753916"/>
            <a:ext cx="12192000" cy="6104083"/>
          </a:xfrm>
          <a:prstGeom prst="rect">
            <a:avLst/>
          </a:prstGeom>
        </p:spPr>
      </p:pic>
    </p:spTree>
    <p:extLst>
      <p:ext uri="{BB962C8B-B14F-4D97-AF65-F5344CB8AC3E}">
        <p14:creationId xmlns:p14="http://schemas.microsoft.com/office/powerpoint/2010/main" val="59643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6388F-BE77-A821-AE16-6CF2E5285549}"/>
              </a:ext>
            </a:extLst>
          </p:cNvPr>
          <p:cNvSpPr>
            <a:spLocks noGrp="1"/>
          </p:cNvSpPr>
          <p:nvPr>
            <p:ph type="title"/>
          </p:nvPr>
        </p:nvSpPr>
        <p:spPr>
          <a:xfrm>
            <a:off x="762000" y="120869"/>
            <a:ext cx="2916621" cy="509752"/>
          </a:xfrm>
        </p:spPr>
        <p:txBody>
          <a:bodyPr>
            <a:normAutofit fontScale="90000"/>
          </a:bodyPr>
          <a:lstStyle/>
          <a:p>
            <a:r>
              <a:rPr lang="en-IN" b="1" u="sng" dirty="0">
                <a:latin typeface="Arial Rounded MT Bold" panose="020F0704030504030204" pitchFamily="34" charset="0"/>
              </a:rPr>
              <a:t>conclusion</a:t>
            </a:r>
            <a:endParaRPr lang="en-IN" dirty="0"/>
          </a:p>
        </p:txBody>
      </p:sp>
      <p:sp>
        <p:nvSpPr>
          <p:cNvPr id="3" name="Content Placeholder 2">
            <a:extLst>
              <a:ext uri="{FF2B5EF4-FFF2-40B4-BE49-F238E27FC236}">
                <a16:creationId xmlns:a16="http://schemas.microsoft.com/office/drawing/2014/main" id="{B2E34E77-D85B-0FFB-BEC8-EDD6454C982D}"/>
              </a:ext>
            </a:extLst>
          </p:cNvPr>
          <p:cNvSpPr>
            <a:spLocks noGrp="1"/>
          </p:cNvSpPr>
          <p:nvPr>
            <p:ph idx="1"/>
          </p:nvPr>
        </p:nvSpPr>
        <p:spPr>
          <a:xfrm>
            <a:off x="762000" y="788276"/>
            <a:ext cx="10668000" cy="5948855"/>
          </a:xfrm>
        </p:spPr>
        <p:txBody>
          <a:bodyPr>
            <a:normAutofit fontScale="62500" lnSpcReduction="20000"/>
          </a:bodyPr>
          <a:lstStyle/>
          <a:p>
            <a:pPr marL="0" indent="0">
              <a:lnSpc>
                <a:spcPct val="100000"/>
              </a:lnSpc>
              <a:buNone/>
            </a:pPr>
            <a:r>
              <a:rPr lang="en-US" sz="3200" b="1" u="sng" dirty="0">
                <a:effectLst>
                  <a:outerShdw blurRad="38100" dist="38100" dir="2700000" algn="tl">
                    <a:srgbClr val="000000">
                      <a:alpha val="43137"/>
                    </a:srgbClr>
                  </a:outerShdw>
                </a:effectLst>
              </a:rPr>
              <a:t>Average Calories Burned Across Workout Types</a:t>
            </a:r>
          </a:p>
          <a:p>
            <a:pPr>
              <a:lnSpc>
                <a:spcPct val="100000"/>
              </a:lnSpc>
            </a:pPr>
            <a:r>
              <a:rPr lang="en-US" b="1" dirty="0">
                <a:ln w="0"/>
                <a:effectLst>
                  <a:outerShdw blurRad="38100" dist="38100" dir="2700000" algn="tl" rotWithShape="0">
                    <a:srgbClr val="000000">
                      <a:alpha val="43137"/>
                    </a:srgbClr>
                  </a:outerShdw>
                </a:effectLst>
              </a:rPr>
              <a:t>HIIT recorded the highest average calories burned, followed by Strength and Yoga.</a:t>
            </a:r>
          </a:p>
          <a:p>
            <a:pPr>
              <a:lnSpc>
                <a:spcPct val="100000"/>
              </a:lnSpc>
            </a:pPr>
            <a:r>
              <a:rPr lang="en-US" b="1" dirty="0">
                <a:ln w="0"/>
                <a:effectLst>
                  <a:outerShdw blurRad="38100" dist="38100" dir="2700000" algn="tl" rotWithShape="0">
                    <a:srgbClr val="000000">
                      <a:alpha val="43137"/>
                    </a:srgbClr>
                  </a:outerShdw>
                </a:effectLst>
              </a:rPr>
              <a:t>Cardio had the lowest calorie burn among the four types.</a:t>
            </a:r>
          </a:p>
          <a:p>
            <a:pPr marL="0" indent="0" algn="just">
              <a:lnSpc>
                <a:spcPct val="100000"/>
              </a:lnSpc>
              <a:buNone/>
            </a:pPr>
            <a:br>
              <a:rPr lang="en-US" sz="2400" b="1" dirty="0">
                <a:ln w="0"/>
                <a:effectLst>
                  <a:outerShdw blurRad="38100" dist="38100" dir="2700000" algn="tl" rotWithShape="0">
                    <a:srgbClr val="000000">
                      <a:alpha val="43137"/>
                    </a:srgbClr>
                  </a:outerShdw>
                </a:effectLst>
              </a:rPr>
            </a:br>
            <a:r>
              <a:rPr lang="en-US" b="1" dirty="0">
                <a:ln w="0"/>
                <a:effectLst>
                  <a:outerShdw blurRad="38100" dist="38100" dir="2700000" algn="tl" rotWithShape="0">
                    <a:srgbClr val="000000">
                      <a:alpha val="43137"/>
                    </a:srgbClr>
                  </a:outerShdw>
                </a:effectLst>
              </a:rPr>
              <a:t>This suggests that high-intensity workouts are the most effective for maximizing calorie expenditure, while steady workouts like Cardio burn fewer calories on average.</a:t>
            </a:r>
          </a:p>
          <a:p>
            <a:pPr marL="0" indent="0">
              <a:lnSpc>
                <a:spcPct val="100000"/>
              </a:lnSpc>
              <a:buNone/>
            </a:pPr>
            <a:r>
              <a:rPr lang="en-US" sz="3200" b="1" u="sng" dirty="0">
                <a:effectLst>
                  <a:outerShdw blurRad="38100" dist="38100" dir="2700000" algn="tl">
                    <a:srgbClr val="000000">
                      <a:alpha val="43137"/>
                    </a:srgbClr>
                  </a:outerShdw>
                </a:effectLst>
              </a:rPr>
              <a:t>Heart Rate Metrics by Age Group and Gender</a:t>
            </a:r>
          </a:p>
          <a:p>
            <a:pPr algn="just">
              <a:lnSpc>
                <a:spcPct val="100000"/>
              </a:lnSpc>
            </a:pPr>
            <a:r>
              <a:rPr lang="en-US" b="1" dirty="0">
                <a:ln w="0"/>
                <a:effectLst>
                  <a:outerShdw blurRad="38100" dist="38100" dir="2700000" algn="tl" rotWithShape="0">
                    <a:srgbClr val="000000">
                      <a:alpha val="43137"/>
                    </a:srgbClr>
                  </a:outerShdw>
                </a:effectLst>
              </a:rPr>
              <a:t>Across all age groups, male and female Max_BPM , Avg_BPM , Resting_BPM values were stable across age ranges, showing minimal changes as age increased.</a:t>
            </a:r>
          </a:p>
          <a:p>
            <a:pPr marL="0" indent="0" algn="just">
              <a:lnSpc>
                <a:spcPct val="100000"/>
              </a:lnSpc>
              <a:buNone/>
            </a:pPr>
            <a:br>
              <a:rPr lang="en-US" sz="2400" b="1" dirty="0">
                <a:ln w="0"/>
                <a:effectLst>
                  <a:outerShdw blurRad="38100" dist="38100" dir="2700000" algn="tl" rotWithShape="0">
                    <a:srgbClr val="000000">
                      <a:alpha val="43137"/>
                    </a:srgbClr>
                  </a:outerShdw>
                </a:effectLst>
              </a:rPr>
            </a:br>
            <a:r>
              <a:rPr lang="en-US" b="1" dirty="0">
                <a:ln w="0"/>
                <a:effectLst>
                  <a:outerShdw blurRad="38100" dist="38100" dir="2700000" algn="tl" rotWithShape="0">
                    <a:srgbClr val="000000">
                      <a:alpha val="43137"/>
                    </a:srgbClr>
                  </a:outerShdw>
                </a:effectLst>
              </a:rPr>
              <a:t>Overall, age does not significantly affect heart rate intensity during workouts, and both genders show similar heart rate performance across all metrics.</a:t>
            </a:r>
          </a:p>
          <a:p>
            <a:pPr marL="0" indent="0">
              <a:lnSpc>
                <a:spcPct val="100000"/>
              </a:lnSpc>
              <a:buNone/>
            </a:pPr>
            <a:r>
              <a:rPr lang="en-US" sz="3200" b="1" u="sng" dirty="0">
                <a:effectLst>
                  <a:outerShdw blurRad="38100" dist="38100" dir="2700000" algn="tl">
                    <a:srgbClr val="000000">
                      <a:alpha val="43137"/>
                    </a:srgbClr>
                  </a:outerShdw>
                </a:effectLst>
              </a:rPr>
              <a:t>Calories Burned &amp; Session Duration Across BMI Categories</a:t>
            </a:r>
          </a:p>
          <a:p>
            <a:pPr>
              <a:lnSpc>
                <a:spcPct val="100000"/>
              </a:lnSpc>
            </a:pPr>
            <a:r>
              <a:rPr lang="en-US" b="1" dirty="0">
                <a:ln w="0"/>
                <a:effectLst>
                  <a:outerShdw blurRad="38100" dist="38100" dir="2700000" algn="tl" rotWithShape="0">
                    <a:srgbClr val="000000">
                      <a:alpha val="43137"/>
                    </a:srgbClr>
                  </a:outerShdw>
                </a:effectLst>
              </a:rPr>
              <a:t>Normal BMI individuals burned the highest average calories and had slightly longer workout sessions.</a:t>
            </a:r>
          </a:p>
          <a:p>
            <a:pPr>
              <a:lnSpc>
                <a:spcPct val="100000"/>
              </a:lnSpc>
            </a:pPr>
            <a:r>
              <a:rPr lang="en-US" b="1" dirty="0">
                <a:ln w="0"/>
                <a:effectLst>
                  <a:outerShdw blurRad="38100" dist="38100" dir="2700000" algn="tl" rotWithShape="0">
                    <a:srgbClr val="000000">
                      <a:alpha val="43137"/>
                    </a:srgbClr>
                  </a:outerShdw>
                </a:effectLst>
              </a:rPr>
              <a:t>Overweight participants burned fewer calories than normal BMI but more than the Underweight group.</a:t>
            </a:r>
          </a:p>
          <a:p>
            <a:pPr marL="0" indent="0" algn="just">
              <a:lnSpc>
                <a:spcPct val="100000"/>
              </a:lnSpc>
              <a:buNone/>
            </a:pPr>
            <a:br>
              <a:rPr lang="en-US" sz="2400" b="1" dirty="0">
                <a:ln w="0"/>
                <a:effectLst>
                  <a:outerShdw blurRad="38100" dist="38100" dir="2700000" algn="tl" rotWithShape="0">
                    <a:srgbClr val="000000">
                      <a:alpha val="43137"/>
                    </a:srgbClr>
                  </a:outerShdw>
                </a:effectLst>
              </a:rPr>
            </a:br>
            <a:r>
              <a:rPr lang="en-US" b="1" dirty="0">
                <a:ln w="0"/>
                <a:effectLst>
                  <a:outerShdw blurRad="38100" dist="38100" dir="2700000" algn="tl" rotWithShape="0">
                    <a:srgbClr val="000000">
                      <a:alpha val="43137"/>
                    </a:srgbClr>
                  </a:outerShdw>
                </a:effectLst>
              </a:rPr>
              <a:t>Individuals with a normal BMI appear to sustain longer and more effective workout sessions, potentially due to higher fitness levels and endurance.</a:t>
            </a:r>
          </a:p>
          <a:p>
            <a:endParaRPr lang="en-IN" dirty="0"/>
          </a:p>
        </p:txBody>
      </p:sp>
    </p:spTree>
    <p:extLst>
      <p:ext uri="{BB962C8B-B14F-4D97-AF65-F5344CB8AC3E}">
        <p14:creationId xmlns:p14="http://schemas.microsoft.com/office/powerpoint/2010/main" val="3018485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22EDBF-0669-4081-EC95-F7EA58818884}"/>
              </a:ext>
            </a:extLst>
          </p:cNvPr>
          <p:cNvSpPr>
            <a:spLocks noGrp="1"/>
          </p:cNvSpPr>
          <p:nvPr>
            <p:ph idx="1"/>
          </p:nvPr>
        </p:nvSpPr>
        <p:spPr>
          <a:xfrm>
            <a:off x="762000" y="0"/>
            <a:ext cx="10668000" cy="6858000"/>
          </a:xfrm>
        </p:spPr>
        <p:txBody>
          <a:bodyPr>
            <a:normAutofit fontScale="62500" lnSpcReduction="20000"/>
          </a:bodyPr>
          <a:lstStyle/>
          <a:p>
            <a:pPr marL="0" indent="0">
              <a:buNone/>
            </a:pPr>
            <a:r>
              <a:rPr lang="en-US" sz="3200" b="1" u="sng" dirty="0">
                <a:effectLst>
                  <a:outerShdw blurRad="38100" dist="38100" dir="2700000" algn="tl">
                    <a:srgbClr val="000000">
                      <a:alpha val="43137"/>
                    </a:srgbClr>
                  </a:outerShdw>
                </a:effectLst>
              </a:rPr>
              <a:t>Workout Frequency Based on Experience Level</a:t>
            </a:r>
          </a:p>
          <a:p>
            <a:r>
              <a:rPr lang="en-US" b="1" dirty="0">
                <a:ln w="0"/>
                <a:effectLst>
                  <a:outerShdw blurRad="38100" dist="38100" dir="2700000" algn="tl" rotWithShape="0">
                    <a:srgbClr val="000000">
                      <a:alpha val="43137"/>
                    </a:srgbClr>
                  </a:outerShdw>
                </a:effectLst>
              </a:rPr>
              <a:t>Experts (Level 3) had the highest weekly workout frequency.</a:t>
            </a:r>
          </a:p>
          <a:p>
            <a:r>
              <a:rPr lang="en-US" b="1" dirty="0">
                <a:ln w="0"/>
                <a:effectLst>
                  <a:outerShdw blurRad="38100" dist="38100" dir="2700000" algn="tl" rotWithShape="0">
                    <a:srgbClr val="000000">
                      <a:alpha val="43137"/>
                    </a:srgbClr>
                  </a:outerShdw>
                </a:effectLst>
              </a:rPr>
              <a:t>Intermediate users (Level 2) exercised moderately.</a:t>
            </a:r>
          </a:p>
          <a:p>
            <a:r>
              <a:rPr lang="en-US" b="1" dirty="0">
                <a:ln w="0"/>
                <a:effectLst>
                  <a:outerShdw blurRad="38100" dist="38100" dir="2700000" algn="tl" rotWithShape="0">
                    <a:srgbClr val="000000">
                      <a:alpha val="43137"/>
                    </a:srgbClr>
                  </a:outerShdw>
                </a:effectLst>
              </a:rPr>
              <a:t>Beginners (Level 1) had the lowest frequency.</a:t>
            </a:r>
          </a:p>
          <a:p>
            <a:pPr marL="0" indent="0" algn="just">
              <a:buNone/>
            </a:pPr>
            <a:br>
              <a:rPr lang="en-US" b="1" dirty="0">
                <a:ln w="0"/>
                <a:effectLst>
                  <a:outerShdw blurRad="38100" dist="38100" dir="2700000" algn="tl" rotWithShape="0">
                    <a:srgbClr val="000000">
                      <a:alpha val="43137"/>
                    </a:srgbClr>
                  </a:outerShdw>
                </a:effectLst>
              </a:rPr>
            </a:br>
            <a:r>
              <a:rPr lang="en-US" b="1" dirty="0">
                <a:ln w="0"/>
                <a:effectLst>
                  <a:outerShdw blurRad="38100" dist="38100" dir="2700000" algn="tl" rotWithShape="0">
                    <a:srgbClr val="000000">
                      <a:alpha val="43137"/>
                    </a:srgbClr>
                  </a:outerShdw>
                </a:effectLst>
              </a:rPr>
              <a:t>This shows a clear positive relationship between experience level and workout consistency—as individuals gain experience, their workout commitment increases.</a:t>
            </a:r>
          </a:p>
          <a:p>
            <a:pPr marL="0" indent="0">
              <a:buNone/>
            </a:pPr>
            <a:r>
              <a:rPr lang="en-US" sz="3200" b="1" u="sng" dirty="0">
                <a:effectLst>
                  <a:outerShdw blurRad="38100" dist="38100" dir="2700000" algn="tl">
                    <a:srgbClr val="000000">
                      <a:alpha val="43137"/>
                    </a:srgbClr>
                  </a:outerShdw>
                </a:effectLst>
              </a:rPr>
              <a:t>Water Intake &amp; Fat Percentage Across Workout Types</a:t>
            </a:r>
          </a:p>
          <a:p>
            <a:r>
              <a:rPr lang="en-US" b="1" dirty="0">
                <a:ln w="0"/>
                <a:effectLst>
                  <a:outerShdw blurRad="38100" dist="38100" dir="2700000" algn="tl" rotWithShape="0">
                    <a:srgbClr val="000000">
                      <a:alpha val="43137"/>
                    </a:srgbClr>
                  </a:outerShdw>
                </a:effectLst>
              </a:rPr>
              <a:t>Average water intake was consistent across all workout types, with only slight variation.</a:t>
            </a:r>
          </a:p>
          <a:p>
            <a:pPr algn="just"/>
            <a:r>
              <a:rPr lang="en-US" b="1" dirty="0">
                <a:ln w="0"/>
                <a:effectLst>
                  <a:outerShdw blurRad="38100" dist="38100" dir="2700000" algn="tl" rotWithShape="0">
                    <a:srgbClr val="000000">
                      <a:alpha val="43137"/>
                    </a:srgbClr>
                  </a:outerShdw>
                </a:effectLst>
              </a:rPr>
              <a:t>Fat percentage also showed minimal differences between workout categories.</a:t>
            </a:r>
          </a:p>
          <a:p>
            <a:pPr marL="0" indent="0" algn="just">
              <a:buNone/>
            </a:pPr>
            <a:br>
              <a:rPr lang="en-US" b="1" dirty="0">
                <a:ln w="0"/>
                <a:effectLst>
                  <a:outerShdw blurRad="38100" dist="38100" dir="2700000" algn="tl" rotWithShape="0">
                    <a:srgbClr val="000000">
                      <a:alpha val="43137"/>
                    </a:srgbClr>
                  </a:outerShdw>
                </a:effectLst>
              </a:rPr>
            </a:br>
            <a:r>
              <a:rPr lang="en-US" b="1" dirty="0">
                <a:ln w="0"/>
                <a:effectLst>
                  <a:outerShdw blurRad="38100" dist="38100" dir="2700000" algn="tl" rotWithShape="0">
                    <a:srgbClr val="000000">
                      <a:alpha val="43137"/>
                    </a:srgbClr>
                  </a:outerShdw>
                </a:effectLst>
              </a:rPr>
              <a:t>This indicates that hydration habits and body fat ratios are not strongly influenced by the specific type of workout, and may depend more on personal lifestyle, nutrition, or long-term training patterns.</a:t>
            </a:r>
          </a:p>
          <a:p>
            <a:pPr marL="0" indent="0">
              <a:buNone/>
            </a:pPr>
            <a:endParaRPr lang="en-US" sz="3200" dirty="0">
              <a:ln w="0"/>
              <a:effectLst>
                <a:outerShdw blurRad="38100" dist="19050" dir="2700000" algn="tl" rotWithShape="0">
                  <a:schemeClr val="dk1">
                    <a:alpha val="40000"/>
                  </a:schemeClr>
                </a:outerShdw>
              </a:effectLst>
            </a:endParaRPr>
          </a:p>
          <a:p>
            <a:pPr marL="0" indent="0" algn="just">
              <a:buNone/>
            </a:pPr>
            <a:r>
              <a:rPr lang="en-US" dirty="0">
                <a:ln w="0"/>
                <a:effectLst>
                  <a:outerShdw blurRad="38100" dist="19050" dir="2700000" algn="tl" rotWithShape="0">
                    <a:schemeClr val="dk1">
                      <a:alpha val="40000"/>
                    </a:schemeClr>
                  </a:outerShdw>
                </a:effectLst>
                <a:latin typeface="Arial Rounded MT Bold" panose="020F0704030504030204" pitchFamily="34" charset="0"/>
              </a:rPr>
              <a:t>Overall, HIIT burns the most calories, heart rate patterns remain consistent across age and gender, normal BMI individuals show better workout performance, beginners exercise less frequently, and water intake and fat percentage vary only slightly across workout types, giving a clear overview of fitness behaviors in the dataset.</a:t>
            </a:r>
          </a:p>
          <a:p>
            <a:endParaRPr lang="en-IN" dirty="0"/>
          </a:p>
        </p:txBody>
      </p:sp>
    </p:spTree>
    <p:extLst>
      <p:ext uri="{BB962C8B-B14F-4D97-AF65-F5344CB8AC3E}">
        <p14:creationId xmlns:p14="http://schemas.microsoft.com/office/powerpoint/2010/main" val="4159229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07D05-C2F4-9150-CB80-E20F679E6863}"/>
              </a:ext>
            </a:extLst>
          </p:cNvPr>
          <p:cNvSpPr>
            <a:spLocks noGrp="1"/>
          </p:cNvSpPr>
          <p:nvPr>
            <p:ph type="title"/>
          </p:nvPr>
        </p:nvSpPr>
        <p:spPr>
          <a:xfrm>
            <a:off x="762000" y="110358"/>
            <a:ext cx="3147848" cy="478221"/>
          </a:xfrm>
        </p:spPr>
        <p:txBody>
          <a:bodyPr>
            <a:normAutofit fontScale="90000"/>
          </a:bodyPr>
          <a:lstStyle/>
          <a:p>
            <a:r>
              <a:rPr lang="en-IN" b="1" u="sng" dirty="0"/>
              <a:t>Suggestions</a:t>
            </a:r>
            <a:endParaRPr lang="en-IN" dirty="0"/>
          </a:p>
        </p:txBody>
      </p:sp>
      <p:sp>
        <p:nvSpPr>
          <p:cNvPr id="3" name="Content Placeholder 2">
            <a:extLst>
              <a:ext uri="{FF2B5EF4-FFF2-40B4-BE49-F238E27FC236}">
                <a16:creationId xmlns:a16="http://schemas.microsoft.com/office/drawing/2014/main" id="{7D64EB1E-3495-405C-F45C-29F1211C654B}"/>
              </a:ext>
            </a:extLst>
          </p:cNvPr>
          <p:cNvSpPr>
            <a:spLocks noGrp="1"/>
          </p:cNvSpPr>
          <p:nvPr>
            <p:ph idx="1"/>
          </p:nvPr>
        </p:nvSpPr>
        <p:spPr>
          <a:xfrm>
            <a:off x="762000" y="777765"/>
            <a:ext cx="10668000" cy="6411309"/>
          </a:xfrm>
        </p:spPr>
        <p:txBody>
          <a:bodyPr>
            <a:normAutofit fontScale="47500" lnSpcReduction="20000"/>
          </a:bodyPr>
          <a:lstStyle/>
          <a:p>
            <a:pPr marL="0" indent="0">
              <a:buNone/>
            </a:pPr>
            <a:r>
              <a:rPr lang="en-US" sz="3600" b="1" u="sng" dirty="0">
                <a:ln w="0"/>
                <a:effectLst>
                  <a:outerShdw blurRad="38100" dist="38100" dir="2700000" algn="tl">
                    <a:srgbClr val="000000">
                      <a:alpha val="43137"/>
                    </a:srgbClr>
                  </a:outerShdw>
                </a:effectLst>
              </a:rPr>
              <a:t>Personalize Workouts for Better Calorie Burn</a:t>
            </a:r>
          </a:p>
          <a:p>
            <a:pPr marL="0" indent="0">
              <a:buNone/>
            </a:pPr>
            <a:r>
              <a:rPr lang="en-US" sz="3600" b="1" dirty="0">
                <a:ln w="0"/>
                <a:effectLst>
                  <a:outerShdw blurRad="38100" dist="38100" dir="2700000" algn="tl">
                    <a:srgbClr val="000000">
                      <a:alpha val="43137"/>
                    </a:srgbClr>
                  </a:outerShdw>
                </a:effectLst>
              </a:rPr>
              <a:t>Since HIIT burns the most calories, users aiming for weight loss or fat reduction should include 2–3 HIIT sessions per week.</a:t>
            </a:r>
            <a:br>
              <a:rPr lang="en-US" sz="3600" b="1" dirty="0">
                <a:ln w="0"/>
                <a:effectLst>
                  <a:outerShdw blurRad="38100" dist="38100" dir="2700000" algn="tl">
                    <a:srgbClr val="000000">
                      <a:alpha val="43137"/>
                    </a:srgbClr>
                  </a:outerShdw>
                </a:effectLst>
              </a:rPr>
            </a:br>
            <a:r>
              <a:rPr lang="en-US" sz="3600" b="1" dirty="0">
                <a:ln w="0"/>
                <a:effectLst>
                  <a:outerShdw blurRad="38100" dist="38100" dir="2700000" algn="tl">
                    <a:srgbClr val="000000">
                      <a:alpha val="43137"/>
                    </a:srgbClr>
                  </a:outerShdw>
                </a:effectLst>
              </a:rPr>
              <a:t>For beginners, start with low-impact HIIT to avoid injury.</a:t>
            </a:r>
          </a:p>
          <a:p>
            <a:pPr marL="0" indent="0">
              <a:buNone/>
            </a:pPr>
            <a:r>
              <a:rPr lang="en-IN" sz="3600" b="1" u="sng" dirty="0">
                <a:ln w="0"/>
                <a:effectLst>
                  <a:outerShdw blurRad="38100" dist="38100" dir="2700000" algn="tl">
                    <a:srgbClr val="000000">
                      <a:alpha val="43137"/>
                    </a:srgbClr>
                  </a:outerShdw>
                </a:effectLst>
              </a:rPr>
              <a:t>Improve Beginner Engagement</a:t>
            </a:r>
          </a:p>
          <a:p>
            <a:pPr marL="0" indent="0" algn="just">
              <a:buNone/>
            </a:pPr>
            <a:r>
              <a:rPr lang="en-US" sz="3600" b="1" dirty="0">
                <a:ln w="0"/>
                <a:effectLst>
                  <a:outerShdw blurRad="38100" dist="38100" dir="2700000" algn="tl">
                    <a:srgbClr val="000000">
                      <a:alpha val="43137"/>
                    </a:srgbClr>
                  </a:outerShdw>
                </a:effectLst>
              </a:rPr>
              <a:t>Beginners exercise less often, so using short 20–30-minute routines, simple challenges, and progress tracking can help them stay motivated and increase their workout frequency.</a:t>
            </a:r>
          </a:p>
          <a:p>
            <a:pPr marL="0" indent="0">
              <a:buNone/>
            </a:pPr>
            <a:r>
              <a:rPr lang="en-US" sz="3600" b="1" u="sng" dirty="0">
                <a:ln w="0"/>
                <a:effectLst>
                  <a:outerShdw blurRad="38100" dist="38100" dir="2700000" algn="tl">
                    <a:srgbClr val="000000">
                      <a:alpha val="43137"/>
                    </a:srgbClr>
                  </a:outerShdw>
                </a:effectLst>
              </a:rPr>
              <a:t>Target BMI-Specific Training Plans</a:t>
            </a:r>
          </a:p>
          <a:p>
            <a:pPr marL="0" indent="0" algn="just">
              <a:buNone/>
            </a:pPr>
            <a:r>
              <a:rPr lang="en-US" sz="3600" b="1" dirty="0">
                <a:ln w="0"/>
                <a:effectLst>
                  <a:outerShdw blurRad="38100" dist="38100" dir="2700000" algn="tl">
                    <a:srgbClr val="000000">
                      <a:alpha val="43137"/>
                    </a:srgbClr>
                  </a:outerShdw>
                </a:effectLst>
              </a:rPr>
              <a:t>Since Normal BMI participants show better performance, others may need tailored plans accordingly.</a:t>
            </a:r>
          </a:p>
          <a:p>
            <a:pPr marL="0" indent="0">
              <a:buNone/>
            </a:pPr>
            <a:r>
              <a:rPr lang="en-IN" sz="3600" b="1" u="sng" dirty="0">
                <a:ln w="0"/>
                <a:effectLst>
                  <a:outerShdw blurRad="38100" dist="38100" dir="2700000" algn="tl">
                    <a:srgbClr val="000000">
                      <a:alpha val="43137"/>
                    </a:srgbClr>
                  </a:outerShdw>
                </a:effectLst>
              </a:rPr>
              <a:t>Hydration Awareness Campaign</a:t>
            </a:r>
          </a:p>
          <a:p>
            <a:pPr marL="0" indent="0">
              <a:buNone/>
            </a:pPr>
            <a:r>
              <a:rPr lang="en-US" sz="3600" b="1" dirty="0">
                <a:ln w="0"/>
                <a:effectLst>
                  <a:outerShdw blurRad="38100" dist="38100" dir="2700000" algn="tl">
                    <a:srgbClr val="000000">
                      <a:alpha val="43137"/>
                    </a:srgbClr>
                  </a:outerShdw>
                </a:effectLst>
              </a:rPr>
              <a:t>Consume minimum 2–3 liters/day especially for HIIT/Cardio.</a:t>
            </a:r>
          </a:p>
          <a:p>
            <a:pPr marL="0" indent="0">
              <a:buNone/>
            </a:pPr>
            <a:r>
              <a:rPr lang="en-US" sz="3600" b="1" u="sng" dirty="0">
                <a:ln w="0"/>
                <a:effectLst>
                  <a:outerShdw blurRad="38100" dist="38100" dir="2700000" algn="tl">
                    <a:srgbClr val="000000">
                      <a:alpha val="43137"/>
                    </a:srgbClr>
                  </a:outerShdw>
                </a:effectLst>
              </a:rPr>
              <a:t>Balanced Weekly Workout Mix</a:t>
            </a:r>
          </a:p>
          <a:p>
            <a:pPr marL="0" indent="0" algn="just">
              <a:buNone/>
            </a:pPr>
            <a:r>
              <a:rPr lang="en-US" sz="3600" b="1" dirty="0">
                <a:ln w="0"/>
                <a:effectLst>
                  <a:outerShdw blurRad="38100" dist="38100" dir="2700000" algn="tl">
                    <a:srgbClr val="000000">
                      <a:alpha val="43137"/>
                    </a:srgbClr>
                  </a:outerShdw>
                </a:effectLst>
              </a:rPr>
              <a:t>To improve overall fitness, combine Strength + HIIT + Cardio + Flexibility (Yoga).This ensures calorie burn, endurance, muscle gain, and mobility.</a:t>
            </a:r>
          </a:p>
          <a:p>
            <a:pPr marL="0" indent="0">
              <a:buNone/>
            </a:pPr>
            <a:r>
              <a:rPr lang="en-US" sz="3600" b="1" u="sng" dirty="0">
                <a:ln w="0"/>
                <a:effectLst>
                  <a:outerShdw blurRad="38100" dist="38100" dir="2700000" algn="tl">
                    <a:srgbClr val="000000">
                      <a:alpha val="43137"/>
                    </a:srgbClr>
                  </a:outerShdw>
                </a:effectLst>
              </a:rPr>
              <a:t>Add Recovery Days for Heart Health</a:t>
            </a:r>
          </a:p>
          <a:p>
            <a:pPr marL="0" indent="0" algn="just">
              <a:buNone/>
            </a:pPr>
            <a:r>
              <a:rPr lang="en-US" sz="3600" b="1" dirty="0">
                <a:ln w="0"/>
                <a:effectLst>
                  <a:outerShdw blurRad="38100" dist="38100" dir="2700000" algn="tl">
                    <a:srgbClr val="000000">
                      <a:alpha val="43137"/>
                    </a:srgbClr>
                  </a:outerShdw>
                </a:effectLst>
              </a:rPr>
              <a:t>Recommend 1–2 rest/recovery days/week to prevent overtraining and maintain healthy BPM(Beats per minute) levels.</a:t>
            </a:r>
            <a:endParaRPr lang="en-US" sz="3600" b="1" u="sng" dirty="0">
              <a:ln w="0"/>
              <a:effectLst>
                <a:outerShdw blurRad="38100" dist="38100" dir="2700000" algn="tl">
                  <a:srgbClr val="000000">
                    <a:alpha val="43137"/>
                  </a:srgbClr>
                </a:outerShdw>
              </a:effectLst>
            </a:endParaRPr>
          </a:p>
          <a:p>
            <a:endParaRPr lang="en-IN" dirty="0"/>
          </a:p>
        </p:txBody>
      </p:sp>
    </p:spTree>
    <p:extLst>
      <p:ext uri="{BB962C8B-B14F-4D97-AF65-F5344CB8AC3E}">
        <p14:creationId xmlns:p14="http://schemas.microsoft.com/office/powerpoint/2010/main" val="2528023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00FD2-F74E-FF88-3C92-8CF1386D851D}"/>
              </a:ext>
            </a:extLst>
          </p:cNvPr>
          <p:cNvSpPr>
            <a:spLocks noGrp="1"/>
          </p:cNvSpPr>
          <p:nvPr>
            <p:ph type="title"/>
          </p:nvPr>
        </p:nvSpPr>
        <p:spPr>
          <a:xfrm>
            <a:off x="762000" y="762000"/>
            <a:ext cx="10668000" cy="1203434"/>
          </a:xfrm>
        </p:spPr>
        <p:txBody>
          <a:bodyPr/>
          <a:lstStyle/>
          <a:p>
            <a:r>
              <a:rPr lang="en-IN" b="1" u="sng" dirty="0">
                <a:latin typeface="Arial Rounded MT Bold" panose="020F0704030504030204" pitchFamily="34" charset="0"/>
              </a:rPr>
              <a:t>References</a:t>
            </a:r>
            <a:endParaRPr lang="en-IN" dirty="0"/>
          </a:p>
        </p:txBody>
      </p:sp>
      <p:sp>
        <p:nvSpPr>
          <p:cNvPr id="3" name="Content Placeholder 2">
            <a:extLst>
              <a:ext uri="{FF2B5EF4-FFF2-40B4-BE49-F238E27FC236}">
                <a16:creationId xmlns:a16="http://schemas.microsoft.com/office/drawing/2014/main" id="{BD6F6A74-3D1C-4B81-63EC-E1674CDD030A}"/>
              </a:ext>
            </a:extLst>
          </p:cNvPr>
          <p:cNvSpPr>
            <a:spLocks noGrp="1"/>
          </p:cNvSpPr>
          <p:nvPr>
            <p:ph idx="1"/>
          </p:nvPr>
        </p:nvSpPr>
        <p:spPr/>
        <p:txBody>
          <a:bodyPr/>
          <a:lstStyle/>
          <a:p>
            <a:r>
              <a:rPr lang="en-IN" b="1" dirty="0">
                <a:hlinkClick r:id="rId2"/>
              </a:rPr>
              <a:t>https://www.kaggle.com/datasets/valakhorasani/gym-members-exercise-dataset</a:t>
            </a:r>
            <a:endParaRPr lang="en-IN" b="1" dirty="0"/>
          </a:p>
          <a:p>
            <a:r>
              <a:rPr lang="en-IN" b="1" dirty="0"/>
              <a:t>MS EXCEL</a:t>
            </a:r>
          </a:p>
          <a:p>
            <a:pPr marL="0" indent="0">
              <a:buNone/>
            </a:pPr>
            <a:endParaRPr lang="en-IN" dirty="0"/>
          </a:p>
        </p:txBody>
      </p:sp>
    </p:spTree>
    <p:extLst>
      <p:ext uri="{BB962C8B-B14F-4D97-AF65-F5344CB8AC3E}">
        <p14:creationId xmlns:p14="http://schemas.microsoft.com/office/powerpoint/2010/main" val="2072895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68D95D-4772-7E4E-BD1C-0095CF031BF0}"/>
              </a:ext>
            </a:extLst>
          </p:cNvPr>
          <p:cNvSpPr>
            <a:spLocks noGrp="1"/>
          </p:cNvSpPr>
          <p:nvPr>
            <p:ph idx="1"/>
          </p:nvPr>
        </p:nvSpPr>
        <p:spPr>
          <a:xfrm>
            <a:off x="1639614" y="2359573"/>
            <a:ext cx="7987862" cy="1143000"/>
          </a:xfrm>
        </p:spPr>
        <p:txBody>
          <a:bodyPr>
            <a:noAutofit/>
          </a:bodyPr>
          <a:lstStyle/>
          <a:p>
            <a:pPr marL="0" indent="0" algn="ctr">
              <a:buNone/>
            </a:pPr>
            <a:r>
              <a:rPr lang="en-US" sz="8000" b="1" u="sng" dirty="0">
                <a:latin typeface="Arial Rounded MT Bold" panose="020F0704030504030204" pitchFamily="34" charset="0"/>
              </a:rPr>
              <a:t>Thank You</a:t>
            </a:r>
            <a:endParaRPr lang="en-IN" sz="8000" dirty="0"/>
          </a:p>
        </p:txBody>
      </p:sp>
    </p:spTree>
    <p:extLst>
      <p:ext uri="{BB962C8B-B14F-4D97-AF65-F5344CB8AC3E}">
        <p14:creationId xmlns:p14="http://schemas.microsoft.com/office/powerpoint/2010/main" val="2506181208"/>
      </p:ext>
    </p:extLst>
  </p:cSld>
  <p:clrMapOvr>
    <a:masterClrMapping/>
  </p:clrMapOvr>
</p:sld>
</file>

<file path=ppt/theme/theme1.xml><?xml version="1.0" encoding="utf-8"?>
<a:theme xmlns:a="http://schemas.openxmlformats.org/drawingml/2006/main" name="PebbleVTI">
  <a:themeElements>
    <a:clrScheme name="Blush 3">
      <a:dk1>
        <a:sysClr val="windowText" lastClr="000000"/>
      </a:dk1>
      <a:lt1>
        <a:sysClr val="window" lastClr="FFFFFF"/>
      </a:lt1>
      <a:dk2>
        <a:srgbClr val="B15E4E"/>
      </a:dk2>
      <a:lt2>
        <a:srgbClr val="FFFFFF"/>
      </a:lt2>
      <a:accent1>
        <a:srgbClr val="C5B096"/>
      </a:accent1>
      <a:accent2>
        <a:srgbClr val="ECA855"/>
      </a:accent2>
      <a:accent3>
        <a:srgbClr val="9BBFB0"/>
      </a:accent3>
      <a:accent4>
        <a:srgbClr val="A9AEA7"/>
      </a:accent4>
      <a:accent5>
        <a:srgbClr val="6A787C"/>
      </a:accent5>
      <a:accent6>
        <a:srgbClr val="3B4345"/>
      </a:accent6>
      <a:hlink>
        <a:srgbClr val="ECA855"/>
      </a:hlink>
      <a:folHlink>
        <a:srgbClr val="6A392F"/>
      </a:folHlink>
    </a:clrScheme>
    <a:fontScheme name="Custom 4">
      <a:majorFont>
        <a:latin typeface="Sitka Subheadi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ebbleVTI" id="{8B4DB91D-6BB4-4BA3-973A-733D3AF2680E}" vid="{9A19CF0D-2077-4BF4-BAA5-86934C336D59}"/>
    </a:ext>
  </a:extLst>
</a:theme>
</file>

<file path=docProps/app.xml><?xml version="1.0" encoding="utf-8"?>
<Properties xmlns="http://schemas.openxmlformats.org/officeDocument/2006/extended-properties" xmlns:vt="http://schemas.openxmlformats.org/officeDocument/2006/docPropsVTypes">
  <Template>Pebble</Template>
  <TotalTime>21</TotalTime>
  <Words>761</Words>
  <Application>Microsoft Office PowerPoint</Application>
  <PresentationFormat>Widescreen</PresentationFormat>
  <Paragraphs>55</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Arial Rounded MT Bold</vt:lpstr>
      <vt:lpstr>Avenir Next LT Pro</vt:lpstr>
      <vt:lpstr>Avenir Next LT Pro Light</vt:lpstr>
      <vt:lpstr>Bahnschrift SemiBold</vt:lpstr>
      <vt:lpstr>Sitka Subheading</vt:lpstr>
      <vt:lpstr>PebbleVTI</vt:lpstr>
      <vt:lpstr>Analysis of Gym Members Fitness and Workout Patterns.</vt:lpstr>
      <vt:lpstr>Introduction</vt:lpstr>
      <vt:lpstr>Objectives</vt:lpstr>
      <vt:lpstr>Dataset</vt:lpstr>
      <vt:lpstr>Pivot Tables</vt:lpstr>
      <vt:lpstr>Dashboard</vt:lpstr>
      <vt:lpstr>conclusion</vt:lpstr>
      <vt:lpstr>PowerPoint Presentation</vt:lpstr>
      <vt:lpstr>Suggestions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Libin shibhu</dc:creator>
  <cp:lastModifiedBy>Libin shibhu</cp:lastModifiedBy>
  <cp:revision>1</cp:revision>
  <dcterms:created xsi:type="dcterms:W3CDTF">2026-02-11T07:02:17Z</dcterms:created>
  <dcterms:modified xsi:type="dcterms:W3CDTF">2026-02-11T07:23:45Z</dcterms:modified>
</cp:coreProperties>
</file>